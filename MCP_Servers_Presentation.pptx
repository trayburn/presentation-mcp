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1" r:id="rId2"/>
    <p:sldId id="260" r:id="rId3"/>
    <p:sldId id="258" r:id="rId4"/>
    <p:sldId id="2562" r:id="rId5"/>
    <p:sldId id="2563" r:id="rId6"/>
    <p:sldId id="2582" r:id="rId7"/>
    <p:sldId id="2583" r:id="rId8"/>
    <p:sldId id="2589" r:id="rId9"/>
    <p:sldId id="2584" r:id="rId10"/>
    <p:sldId id="2590" r:id="rId11"/>
    <p:sldId id="2591" r:id="rId12"/>
    <p:sldId id="2564" r:id="rId13"/>
    <p:sldId id="2585" r:id="rId14"/>
    <p:sldId id="2566" r:id="rId15"/>
    <p:sldId id="2567" r:id="rId16"/>
    <p:sldId id="2580" r:id="rId17"/>
    <p:sldId id="2581" r:id="rId18"/>
    <p:sldId id="2586" r:id="rId19"/>
    <p:sldId id="2587" r:id="rId20"/>
    <p:sldId id="2578" r:id="rId21"/>
    <p:sldId id="2572" r:id="rId22"/>
    <p:sldId id="2573" r:id="rId23"/>
    <p:sldId id="2579" r:id="rId24"/>
    <p:sldId id="2574" r:id="rId25"/>
    <p:sldId id="25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ols in your AI's Toolbox: An Introduction to MCP Servers" id="{A0B2B2BF-23B8-42C4-9D14-74B2C16D1CEB}">
          <p14:sldIdLst>
            <p14:sldId id="2561"/>
            <p14:sldId id="260"/>
            <p14:sldId id="258"/>
          </p14:sldIdLst>
        </p14:section>
        <p14:section name="Introduction to MCP Servers" id="{FA0C23B1-3AFA-44D2-8FA0-2F6378EA9F6B}">
          <p14:sldIdLst>
            <p14:sldId id="2562"/>
            <p14:sldId id="2563"/>
            <p14:sldId id="2582"/>
            <p14:sldId id="2583"/>
            <p14:sldId id="2589"/>
            <p14:sldId id="2584"/>
            <p14:sldId id="2590"/>
            <p14:sldId id="2591"/>
          </p14:sldIdLst>
        </p14:section>
        <p14:section name="Challenges in AI Integration" id="{DACF0260-1362-46A0-BD67-FA4E3DB331AC}">
          <p14:sldIdLst>
            <p14:sldId id="2564"/>
            <p14:sldId id="2585"/>
          </p14:sldIdLst>
        </p14:section>
        <p14:section name="Introducing the Model Context Protocol (MCP)" id="{35A9B8F4-C1B9-49EE-9205-EA775679BCE1}">
          <p14:sldIdLst>
            <p14:sldId id="2566"/>
            <p14:sldId id="2567"/>
            <p14:sldId id="2580"/>
            <p14:sldId id="2581"/>
            <p14:sldId id="2586"/>
            <p14:sldId id="2587"/>
          </p14:sldIdLst>
        </p14:section>
        <p14:section name="Practical Applications of MCP" id="{448EDF95-677C-4EBE-9128-DC41D5705C6F}">
          <p14:sldIdLst/>
        </p14:section>
        <p14:section name="Custom MCP Server Development" id="{FD6E6F92-99E7-4AA4-90EF-64F9179CAD28}">
          <p14:sldIdLst>
            <p14:sldId id="2578"/>
          </p14:sldIdLst>
        </p14:section>
        <p14:section name="Benefits of Standardized AI Integration" id="{B2FBCA7D-29C9-45F1-997E-C3EFA67EB4B3}">
          <p14:sldIdLst>
            <p14:sldId id="2572"/>
            <p14:sldId id="2573"/>
            <p14:sldId id="2579"/>
          </p14:sldIdLst>
        </p14:section>
        <p14:section name="Conclusion and Call to Action" id="{5DAD68D4-82E8-47C2-9B58-14CEC2AB746A}">
          <p14:sldIdLst>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A92156-2263-4BE9-8E45-416A067DAEAD}" v="18" dt="2025-09-03T16:20:03.6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9" autoAdjust="0"/>
    <p:restoredTop sz="94660"/>
  </p:normalViewPr>
  <p:slideViewPr>
    <p:cSldViewPr snapToGrid="0">
      <p:cViewPr varScale="1">
        <p:scale>
          <a:sx n="112" d="100"/>
          <a:sy n="112" d="100"/>
        </p:scale>
        <p:origin x="488"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r>
              <a:rPr lang="en-US" sz="4000" b="1" dirty="0"/>
              <a:t>Context vs Result Quality</a:t>
            </a:r>
          </a:p>
        </c:rich>
      </c:tx>
      <c:overlay val="0"/>
      <c:spPr>
        <a:noFill/>
        <a:ln>
          <a:noFill/>
        </a:ln>
        <a:effectLst/>
      </c:spPr>
      <c:txPr>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Sheet1!$A$2:$A$11</c:f>
              <c:numCache>
                <c:formatCode>General</c:formatCode>
                <c:ptCount val="10"/>
              </c:numCache>
            </c:numRef>
          </c:cat>
          <c:val>
            <c:numRef>
              <c:f>Sheet1!$B$2:$B$11</c:f>
              <c:numCache>
                <c:formatCode>General</c:formatCode>
                <c:ptCount val="10"/>
                <c:pt idx="0">
                  <c:v>10</c:v>
                </c:pt>
                <c:pt idx="1">
                  <c:v>40</c:v>
                </c:pt>
                <c:pt idx="2">
                  <c:v>70</c:v>
                </c:pt>
                <c:pt idx="3">
                  <c:v>90</c:v>
                </c:pt>
                <c:pt idx="4">
                  <c:v>95</c:v>
                </c:pt>
                <c:pt idx="5">
                  <c:v>30</c:v>
                </c:pt>
                <c:pt idx="6">
                  <c:v>20</c:v>
                </c:pt>
                <c:pt idx="7">
                  <c:v>10</c:v>
                </c:pt>
                <c:pt idx="8">
                  <c:v>5</c:v>
                </c:pt>
                <c:pt idx="9">
                  <c:v>1</c:v>
                </c:pt>
              </c:numCache>
            </c:numRef>
          </c:val>
          <c:smooth val="0"/>
          <c:extLst>
            <c:ext xmlns:c16="http://schemas.microsoft.com/office/drawing/2014/chart" uri="{C3380CC4-5D6E-409C-BE32-E72D297353CC}">
              <c16:uniqueId val="{00000000-AE4F-4DF7-9449-E5FD224BE4BE}"/>
            </c:ext>
          </c:extLst>
        </c:ser>
        <c:dLbls>
          <c:showLegendKey val="0"/>
          <c:showVal val="0"/>
          <c:showCatName val="0"/>
          <c:showSerName val="0"/>
          <c:showPercent val="0"/>
          <c:showBubbleSize val="0"/>
        </c:dLbls>
        <c:smooth val="0"/>
        <c:axId val="1534040016"/>
        <c:axId val="1534040496"/>
      </c:lineChart>
      <c:catAx>
        <c:axId val="1534040016"/>
        <c:scaling>
          <c:orientation val="minMax"/>
        </c:scaling>
        <c:delete val="0"/>
        <c:axPos val="b"/>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Context Size</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496"/>
        <c:crosses val="autoZero"/>
        <c:auto val="1"/>
        <c:lblAlgn val="ctr"/>
        <c:lblOffset val="100"/>
        <c:noMultiLvlLbl val="0"/>
      </c:catAx>
      <c:valAx>
        <c:axId val="15340404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Result Quality</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r>
              <a:rPr lang="en-US" sz="4000" b="1" dirty="0"/>
              <a:t>Context vs Result Quality</a:t>
            </a:r>
          </a:p>
        </c:rich>
      </c:tx>
      <c:overlay val="0"/>
      <c:spPr>
        <a:noFill/>
        <a:ln>
          <a:noFill/>
        </a:ln>
        <a:effectLst/>
      </c:spPr>
      <c:txPr>
        <a:bodyPr rot="0" spcFirstLastPara="1" vertOverflow="ellipsis" vert="horz" wrap="square" anchor="ctr" anchorCtr="1"/>
        <a:lstStyle/>
        <a:p>
          <a:pPr>
            <a:defRPr sz="4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Sheet1!$A$2:$A$11</c:f>
              <c:numCache>
                <c:formatCode>General</c:formatCode>
                <c:ptCount val="10"/>
              </c:numCache>
            </c:numRef>
          </c:cat>
          <c:val>
            <c:numRef>
              <c:f>Sheet1!$B$2:$B$11</c:f>
              <c:numCache>
                <c:formatCode>General</c:formatCode>
                <c:ptCount val="10"/>
                <c:pt idx="0">
                  <c:v>10</c:v>
                </c:pt>
                <c:pt idx="1">
                  <c:v>40</c:v>
                </c:pt>
                <c:pt idx="2">
                  <c:v>70</c:v>
                </c:pt>
                <c:pt idx="3">
                  <c:v>90</c:v>
                </c:pt>
                <c:pt idx="4">
                  <c:v>95</c:v>
                </c:pt>
                <c:pt idx="5">
                  <c:v>30</c:v>
                </c:pt>
                <c:pt idx="6">
                  <c:v>20</c:v>
                </c:pt>
                <c:pt idx="7">
                  <c:v>10</c:v>
                </c:pt>
                <c:pt idx="8">
                  <c:v>5</c:v>
                </c:pt>
                <c:pt idx="9">
                  <c:v>1</c:v>
                </c:pt>
              </c:numCache>
            </c:numRef>
          </c:val>
          <c:smooth val="0"/>
          <c:extLst>
            <c:ext xmlns:c16="http://schemas.microsoft.com/office/drawing/2014/chart" uri="{C3380CC4-5D6E-409C-BE32-E72D297353CC}">
              <c16:uniqueId val="{00000000-AE4F-4DF7-9449-E5FD224BE4BE}"/>
            </c:ext>
          </c:extLst>
        </c:ser>
        <c:dLbls>
          <c:showLegendKey val="0"/>
          <c:showVal val="0"/>
          <c:showCatName val="0"/>
          <c:showSerName val="0"/>
          <c:showPercent val="0"/>
          <c:showBubbleSize val="0"/>
        </c:dLbls>
        <c:smooth val="0"/>
        <c:axId val="1534040016"/>
        <c:axId val="1534040496"/>
      </c:lineChart>
      <c:catAx>
        <c:axId val="1534040016"/>
        <c:scaling>
          <c:orientation val="minMax"/>
        </c:scaling>
        <c:delete val="0"/>
        <c:axPos val="b"/>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Context Size</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496"/>
        <c:crosses val="autoZero"/>
        <c:auto val="1"/>
        <c:lblAlgn val="ctr"/>
        <c:lblOffset val="100"/>
        <c:noMultiLvlLbl val="0"/>
      </c:catAx>
      <c:valAx>
        <c:axId val="15340404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sz="2400" dirty="0"/>
                  <a:t>Result Quality</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4040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857AF2-41F0-4E6D-93EA-7C99799CDFA4}" type="doc">
      <dgm:prSet loTypeId="urn:microsoft.com/office/officeart/2005/8/layout/cycle1" loCatId="cycle" qsTypeId="urn:microsoft.com/office/officeart/2005/8/quickstyle/simple1" qsCatId="simple" csTypeId="urn:microsoft.com/office/officeart/2005/8/colors/accent1_1" csCatId="accent1" phldr="1"/>
      <dgm:spPr/>
      <dgm:t>
        <a:bodyPr/>
        <a:lstStyle/>
        <a:p>
          <a:endParaRPr lang="en-US"/>
        </a:p>
      </dgm:t>
    </dgm:pt>
    <dgm:pt modelId="{234FF148-4D04-4A5E-91FA-D4BB1ADAC27D}">
      <dgm:prSet phldrT="[Text]" phldr="0"/>
      <dgm:spPr/>
      <dgm:t>
        <a:bodyPr/>
        <a:lstStyle/>
        <a:p>
          <a:r>
            <a:rPr lang="en-US" dirty="0"/>
            <a:t>Consider Tools</a:t>
          </a:r>
        </a:p>
      </dgm:t>
    </dgm:pt>
    <dgm:pt modelId="{52F63678-4EAD-4E70-A55F-14FE7530D8AD}" type="parTrans" cxnId="{57170F9A-46A2-405C-A3A3-201B654C7A9B}">
      <dgm:prSet/>
      <dgm:spPr/>
      <dgm:t>
        <a:bodyPr/>
        <a:lstStyle/>
        <a:p>
          <a:endParaRPr lang="en-US"/>
        </a:p>
      </dgm:t>
    </dgm:pt>
    <dgm:pt modelId="{C8543A4C-3B83-4567-AB3D-63412C5DE554}" type="sibTrans" cxnId="{57170F9A-46A2-405C-A3A3-201B654C7A9B}">
      <dgm:prSet/>
      <dgm:spPr/>
      <dgm:t>
        <a:bodyPr/>
        <a:lstStyle/>
        <a:p>
          <a:endParaRPr lang="en-US"/>
        </a:p>
      </dgm:t>
    </dgm:pt>
    <dgm:pt modelId="{02A0755E-63EF-4B3C-852F-931CBDA3CA5A}">
      <dgm:prSet phldrT="[Text]" phldr="0"/>
      <dgm:spPr/>
      <dgm:t>
        <a:bodyPr/>
        <a:lstStyle/>
        <a:p>
          <a:r>
            <a:rPr lang="en-US" dirty="0"/>
            <a:t>Plan / Reason</a:t>
          </a:r>
        </a:p>
      </dgm:t>
    </dgm:pt>
    <dgm:pt modelId="{8671F13A-B60A-4F71-81B6-3D47FC7B2665}" type="parTrans" cxnId="{0F806811-6ADA-47E0-BD55-46D7FE52D93A}">
      <dgm:prSet/>
      <dgm:spPr/>
      <dgm:t>
        <a:bodyPr/>
        <a:lstStyle/>
        <a:p>
          <a:endParaRPr lang="en-US"/>
        </a:p>
      </dgm:t>
    </dgm:pt>
    <dgm:pt modelId="{6CB60659-0E46-4F80-A90E-41B405F33AB3}" type="sibTrans" cxnId="{0F806811-6ADA-47E0-BD55-46D7FE52D93A}">
      <dgm:prSet/>
      <dgm:spPr/>
      <dgm:t>
        <a:bodyPr/>
        <a:lstStyle/>
        <a:p>
          <a:endParaRPr lang="en-US"/>
        </a:p>
      </dgm:t>
    </dgm:pt>
    <dgm:pt modelId="{8510E843-24C2-42C0-8E4D-18DD998BB882}">
      <dgm:prSet phldrT="[Text]" phldr="0"/>
      <dgm:spPr/>
      <dgm:t>
        <a:bodyPr/>
        <a:lstStyle/>
        <a:p>
          <a:r>
            <a:rPr lang="en-US"/>
            <a:t>Invoke Tools</a:t>
          </a:r>
          <a:endParaRPr lang="en-US" dirty="0"/>
        </a:p>
      </dgm:t>
    </dgm:pt>
    <dgm:pt modelId="{79C4F2D3-2F99-46E7-8B57-59DCE4E3E69E}" type="parTrans" cxnId="{C70476A7-428B-4DB0-A6A9-1BFBE895DCB1}">
      <dgm:prSet/>
      <dgm:spPr/>
      <dgm:t>
        <a:bodyPr/>
        <a:lstStyle/>
        <a:p>
          <a:endParaRPr lang="en-US"/>
        </a:p>
      </dgm:t>
    </dgm:pt>
    <dgm:pt modelId="{61EBA072-BD63-4988-9926-5820A0A3EC8D}" type="sibTrans" cxnId="{C70476A7-428B-4DB0-A6A9-1BFBE895DCB1}">
      <dgm:prSet/>
      <dgm:spPr/>
      <dgm:t>
        <a:bodyPr/>
        <a:lstStyle/>
        <a:p>
          <a:endParaRPr lang="en-US"/>
        </a:p>
      </dgm:t>
    </dgm:pt>
    <dgm:pt modelId="{995E2385-2CEE-425F-A740-D5F3D25E3C95}" type="pres">
      <dgm:prSet presAssocID="{31857AF2-41F0-4E6D-93EA-7C99799CDFA4}" presName="cycle" presStyleCnt="0">
        <dgm:presLayoutVars>
          <dgm:dir/>
          <dgm:resizeHandles val="exact"/>
        </dgm:presLayoutVars>
      </dgm:prSet>
      <dgm:spPr/>
    </dgm:pt>
    <dgm:pt modelId="{BD6A7EAC-6D0C-4A22-AFA6-DD14DD9AD595}" type="pres">
      <dgm:prSet presAssocID="{234FF148-4D04-4A5E-91FA-D4BB1ADAC27D}" presName="dummy" presStyleCnt="0"/>
      <dgm:spPr/>
    </dgm:pt>
    <dgm:pt modelId="{57A7A397-E518-4131-A5F6-4242910CFA70}" type="pres">
      <dgm:prSet presAssocID="{234FF148-4D04-4A5E-91FA-D4BB1ADAC27D}" presName="node" presStyleLbl="revTx" presStyleIdx="0" presStyleCnt="3">
        <dgm:presLayoutVars>
          <dgm:bulletEnabled val="1"/>
        </dgm:presLayoutVars>
      </dgm:prSet>
      <dgm:spPr/>
    </dgm:pt>
    <dgm:pt modelId="{F53A5701-0DD2-4984-BD22-1BF9ABB5D25D}" type="pres">
      <dgm:prSet presAssocID="{C8543A4C-3B83-4567-AB3D-63412C5DE554}" presName="sibTrans" presStyleLbl="node1" presStyleIdx="0" presStyleCnt="3"/>
      <dgm:spPr/>
    </dgm:pt>
    <dgm:pt modelId="{4DCE5DFD-D92E-47C0-8F86-82A746762F9E}" type="pres">
      <dgm:prSet presAssocID="{02A0755E-63EF-4B3C-852F-931CBDA3CA5A}" presName="dummy" presStyleCnt="0"/>
      <dgm:spPr/>
    </dgm:pt>
    <dgm:pt modelId="{DCDD3A9E-5A94-4B43-9C0D-8E6F22276291}" type="pres">
      <dgm:prSet presAssocID="{02A0755E-63EF-4B3C-852F-931CBDA3CA5A}" presName="node" presStyleLbl="revTx" presStyleIdx="1" presStyleCnt="3">
        <dgm:presLayoutVars>
          <dgm:bulletEnabled val="1"/>
        </dgm:presLayoutVars>
      </dgm:prSet>
      <dgm:spPr/>
    </dgm:pt>
    <dgm:pt modelId="{20C0E9FD-BA4B-4D05-A1ED-40834EFA58EC}" type="pres">
      <dgm:prSet presAssocID="{6CB60659-0E46-4F80-A90E-41B405F33AB3}" presName="sibTrans" presStyleLbl="node1" presStyleIdx="1" presStyleCnt="3"/>
      <dgm:spPr/>
    </dgm:pt>
    <dgm:pt modelId="{BA7EC406-3FA5-446C-A2D6-A17A74CB53F4}" type="pres">
      <dgm:prSet presAssocID="{8510E843-24C2-42C0-8E4D-18DD998BB882}" presName="dummy" presStyleCnt="0"/>
      <dgm:spPr/>
    </dgm:pt>
    <dgm:pt modelId="{E511B780-3FFF-4323-8015-2D6EF9181546}" type="pres">
      <dgm:prSet presAssocID="{8510E843-24C2-42C0-8E4D-18DD998BB882}" presName="node" presStyleLbl="revTx" presStyleIdx="2" presStyleCnt="3">
        <dgm:presLayoutVars>
          <dgm:bulletEnabled val="1"/>
        </dgm:presLayoutVars>
      </dgm:prSet>
      <dgm:spPr/>
    </dgm:pt>
    <dgm:pt modelId="{74BAE117-DEDE-4173-91DE-C1DEF7A02EAB}" type="pres">
      <dgm:prSet presAssocID="{61EBA072-BD63-4988-9926-5820A0A3EC8D}" presName="sibTrans" presStyleLbl="node1" presStyleIdx="2" presStyleCnt="3"/>
      <dgm:spPr/>
    </dgm:pt>
  </dgm:ptLst>
  <dgm:cxnLst>
    <dgm:cxn modelId="{0F806811-6ADA-47E0-BD55-46D7FE52D93A}" srcId="{31857AF2-41F0-4E6D-93EA-7C99799CDFA4}" destId="{02A0755E-63EF-4B3C-852F-931CBDA3CA5A}" srcOrd="1" destOrd="0" parTransId="{8671F13A-B60A-4F71-81B6-3D47FC7B2665}" sibTransId="{6CB60659-0E46-4F80-A90E-41B405F33AB3}"/>
    <dgm:cxn modelId="{1617F745-90DD-4016-99BD-BEA0C5FE5A95}" type="presOf" srcId="{61EBA072-BD63-4988-9926-5820A0A3EC8D}" destId="{74BAE117-DEDE-4173-91DE-C1DEF7A02EAB}" srcOrd="0" destOrd="0" presId="urn:microsoft.com/office/officeart/2005/8/layout/cycle1"/>
    <dgm:cxn modelId="{727FBA4B-8D1B-4383-AD2C-C051CC945905}" type="presOf" srcId="{31857AF2-41F0-4E6D-93EA-7C99799CDFA4}" destId="{995E2385-2CEE-425F-A740-D5F3D25E3C95}" srcOrd="0" destOrd="0" presId="urn:microsoft.com/office/officeart/2005/8/layout/cycle1"/>
    <dgm:cxn modelId="{64962058-C158-4D27-97B0-5BA8F66D6C14}" type="presOf" srcId="{8510E843-24C2-42C0-8E4D-18DD998BB882}" destId="{E511B780-3FFF-4323-8015-2D6EF9181546}" srcOrd="0" destOrd="0" presId="urn:microsoft.com/office/officeart/2005/8/layout/cycle1"/>
    <dgm:cxn modelId="{D3237A8C-E50A-481F-972A-527347FD8466}" type="presOf" srcId="{234FF148-4D04-4A5E-91FA-D4BB1ADAC27D}" destId="{57A7A397-E518-4131-A5F6-4242910CFA70}" srcOrd="0" destOrd="0" presId="urn:microsoft.com/office/officeart/2005/8/layout/cycle1"/>
    <dgm:cxn modelId="{B5911E91-0981-40EF-887E-BBA6E736087F}" type="presOf" srcId="{C8543A4C-3B83-4567-AB3D-63412C5DE554}" destId="{F53A5701-0DD2-4984-BD22-1BF9ABB5D25D}" srcOrd="0" destOrd="0" presId="urn:microsoft.com/office/officeart/2005/8/layout/cycle1"/>
    <dgm:cxn modelId="{57170F9A-46A2-405C-A3A3-201B654C7A9B}" srcId="{31857AF2-41F0-4E6D-93EA-7C99799CDFA4}" destId="{234FF148-4D04-4A5E-91FA-D4BB1ADAC27D}" srcOrd="0" destOrd="0" parTransId="{52F63678-4EAD-4E70-A55F-14FE7530D8AD}" sibTransId="{C8543A4C-3B83-4567-AB3D-63412C5DE554}"/>
    <dgm:cxn modelId="{D6D05CA2-8458-455E-BBBE-828BE26EDDB5}" type="presOf" srcId="{02A0755E-63EF-4B3C-852F-931CBDA3CA5A}" destId="{DCDD3A9E-5A94-4B43-9C0D-8E6F22276291}" srcOrd="0" destOrd="0" presId="urn:microsoft.com/office/officeart/2005/8/layout/cycle1"/>
    <dgm:cxn modelId="{C70476A7-428B-4DB0-A6A9-1BFBE895DCB1}" srcId="{31857AF2-41F0-4E6D-93EA-7C99799CDFA4}" destId="{8510E843-24C2-42C0-8E4D-18DD998BB882}" srcOrd="2" destOrd="0" parTransId="{79C4F2D3-2F99-46E7-8B57-59DCE4E3E69E}" sibTransId="{61EBA072-BD63-4988-9926-5820A0A3EC8D}"/>
    <dgm:cxn modelId="{C4ED98EA-0FE5-4F74-8940-08C5C90A62E7}" type="presOf" srcId="{6CB60659-0E46-4F80-A90E-41B405F33AB3}" destId="{20C0E9FD-BA4B-4D05-A1ED-40834EFA58EC}" srcOrd="0" destOrd="0" presId="urn:microsoft.com/office/officeart/2005/8/layout/cycle1"/>
    <dgm:cxn modelId="{20D7472A-85B3-4AA7-9F8F-CFFE6A90DF91}" type="presParOf" srcId="{995E2385-2CEE-425F-A740-D5F3D25E3C95}" destId="{BD6A7EAC-6D0C-4A22-AFA6-DD14DD9AD595}" srcOrd="0" destOrd="0" presId="urn:microsoft.com/office/officeart/2005/8/layout/cycle1"/>
    <dgm:cxn modelId="{0F701D7E-729D-4EA4-AFE1-6D447C107E38}" type="presParOf" srcId="{995E2385-2CEE-425F-A740-D5F3D25E3C95}" destId="{57A7A397-E518-4131-A5F6-4242910CFA70}" srcOrd="1" destOrd="0" presId="urn:microsoft.com/office/officeart/2005/8/layout/cycle1"/>
    <dgm:cxn modelId="{263D49B0-EE4A-45B7-8C76-0EC085C61D8D}" type="presParOf" srcId="{995E2385-2CEE-425F-A740-D5F3D25E3C95}" destId="{F53A5701-0DD2-4984-BD22-1BF9ABB5D25D}" srcOrd="2" destOrd="0" presId="urn:microsoft.com/office/officeart/2005/8/layout/cycle1"/>
    <dgm:cxn modelId="{DF9E126F-58A5-416B-AB97-30148B35A132}" type="presParOf" srcId="{995E2385-2CEE-425F-A740-D5F3D25E3C95}" destId="{4DCE5DFD-D92E-47C0-8F86-82A746762F9E}" srcOrd="3" destOrd="0" presId="urn:microsoft.com/office/officeart/2005/8/layout/cycle1"/>
    <dgm:cxn modelId="{FF09047A-7F25-4AC2-A853-9939973C9B40}" type="presParOf" srcId="{995E2385-2CEE-425F-A740-D5F3D25E3C95}" destId="{DCDD3A9E-5A94-4B43-9C0D-8E6F22276291}" srcOrd="4" destOrd="0" presId="urn:microsoft.com/office/officeart/2005/8/layout/cycle1"/>
    <dgm:cxn modelId="{D9EDF55C-ADBF-4260-9BF8-69D9396C1DA7}" type="presParOf" srcId="{995E2385-2CEE-425F-A740-D5F3D25E3C95}" destId="{20C0E9FD-BA4B-4D05-A1ED-40834EFA58EC}" srcOrd="5" destOrd="0" presId="urn:microsoft.com/office/officeart/2005/8/layout/cycle1"/>
    <dgm:cxn modelId="{A0B4447C-EF69-46DF-88B5-2A9E96FCDA7F}" type="presParOf" srcId="{995E2385-2CEE-425F-A740-D5F3D25E3C95}" destId="{BA7EC406-3FA5-446C-A2D6-A17A74CB53F4}" srcOrd="6" destOrd="0" presId="urn:microsoft.com/office/officeart/2005/8/layout/cycle1"/>
    <dgm:cxn modelId="{9ECF3A19-D306-4AD9-9856-83046DBF9287}" type="presParOf" srcId="{995E2385-2CEE-425F-A740-D5F3D25E3C95}" destId="{E511B780-3FFF-4323-8015-2D6EF9181546}" srcOrd="7" destOrd="0" presId="urn:microsoft.com/office/officeart/2005/8/layout/cycle1"/>
    <dgm:cxn modelId="{13C8DFCC-5C9E-496E-B32C-E82A2A398FF2}" type="presParOf" srcId="{995E2385-2CEE-425F-A740-D5F3D25E3C95}" destId="{74BAE117-DEDE-4173-91DE-C1DEF7A02EAB}" srcOrd="8"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7A397-E518-4131-A5F6-4242910CFA70}">
      <dsp:nvSpPr>
        <dsp:cNvPr id="0" name=""/>
        <dsp:cNvSpPr/>
      </dsp:nvSpPr>
      <dsp:spPr>
        <a:xfrm>
          <a:off x="4030854" y="341738"/>
          <a:ext cx="1751197" cy="1751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Consider Tools</a:t>
          </a:r>
        </a:p>
      </dsp:txBody>
      <dsp:txXfrm>
        <a:off x="4030854" y="341738"/>
        <a:ext cx="1751197" cy="1751197"/>
      </dsp:txXfrm>
    </dsp:sp>
    <dsp:sp modelId="{F53A5701-0DD2-4984-BD22-1BF9ABB5D25D}">
      <dsp:nvSpPr>
        <dsp:cNvPr id="0" name=""/>
        <dsp:cNvSpPr/>
      </dsp:nvSpPr>
      <dsp:spPr>
        <a:xfrm>
          <a:off x="1366616" y="-1974"/>
          <a:ext cx="4137366" cy="4137366"/>
        </a:xfrm>
        <a:prstGeom prst="circularArrow">
          <a:avLst>
            <a:gd name="adj1" fmla="val 8254"/>
            <a:gd name="adj2" fmla="val 576559"/>
            <a:gd name="adj3" fmla="val 2961831"/>
            <a:gd name="adj4" fmla="val 53079"/>
            <a:gd name="adj5" fmla="val 9629"/>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DD3A9E-5A94-4B43-9C0D-8E6F22276291}">
      <dsp:nvSpPr>
        <dsp:cNvPr id="0" name=""/>
        <dsp:cNvSpPr/>
      </dsp:nvSpPr>
      <dsp:spPr>
        <a:xfrm>
          <a:off x="2559700" y="2889852"/>
          <a:ext cx="1751197" cy="1751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Plan / Reason</a:t>
          </a:r>
        </a:p>
      </dsp:txBody>
      <dsp:txXfrm>
        <a:off x="2559700" y="2889852"/>
        <a:ext cx="1751197" cy="1751197"/>
      </dsp:txXfrm>
    </dsp:sp>
    <dsp:sp modelId="{20C0E9FD-BA4B-4D05-A1ED-40834EFA58EC}">
      <dsp:nvSpPr>
        <dsp:cNvPr id="0" name=""/>
        <dsp:cNvSpPr/>
      </dsp:nvSpPr>
      <dsp:spPr>
        <a:xfrm>
          <a:off x="1366616" y="-1974"/>
          <a:ext cx="4137366" cy="4137366"/>
        </a:xfrm>
        <a:prstGeom prst="circularArrow">
          <a:avLst>
            <a:gd name="adj1" fmla="val 8254"/>
            <a:gd name="adj2" fmla="val 576559"/>
            <a:gd name="adj3" fmla="val 10170362"/>
            <a:gd name="adj4" fmla="val 7261610"/>
            <a:gd name="adj5" fmla="val 9629"/>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11B780-3FFF-4323-8015-2D6EF9181546}">
      <dsp:nvSpPr>
        <dsp:cNvPr id="0" name=""/>
        <dsp:cNvSpPr/>
      </dsp:nvSpPr>
      <dsp:spPr>
        <a:xfrm>
          <a:off x="1088546" y="341738"/>
          <a:ext cx="1751197" cy="1751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a:t>Invoke Tools</a:t>
          </a:r>
          <a:endParaRPr lang="en-US" sz="3400" kern="1200" dirty="0"/>
        </a:p>
      </dsp:txBody>
      <dsp:txXfrm>
        <a:off x="1088546" y="341738"/>
        <a:ext cx="1751197" cy="1751197"/>
      </dsp:txXfrm>
    </dsp:sp>
    <dsp:sp modelId="{74BAE117-DEDE-4173-91DE-C1DEF7A02EAB}">
      <dsp:nvSpPr>
        <dsp:cNvPr id="0" name=""/>
        <dsp:cNvSpPr/>
      </dsp:nvSpPr>
      <dsp:spPr>
        <a:xfrm>
          <a:off x="1366616" y="-1974"/>
          <a:ext cx="4137366" cy="4137366"/>
        </a:xfrm>
        <a:prstGeom prst="circularArrow">
          <a:avLst>
            <a:gd name="adj1" fmla="val 8254"/>
            <a:gd name="adj2" fmla="val 576559"/>
            <a:gd name="adj3" fmla="val 16854831"/>
            <a:gd name="adj4" fmla="val 14968610"/>
            <a:gd name="adj5" fmla="val 9629"/>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76652-6C29-4BAF-9849-D5686387BDDC}" type="datetimeFigureOut">
              <a:t>3/11/26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6676C-8EDA-411F-B279-22ABDE2104D7}" type="slidenum">
              <a:t>‹#›</a:t>
            </a:fld>
            <a:endParaRPr lang="en-US"/>
          </a:p>
        </p:txBody>
      </p:sp>
    </p:spTree>
    <p:extLst>
      <p:ext uri="{BB962C8B-B14F-4D97-AF65-F5344CB8AC3E}">
        <p14:creationId xmlns:p14="http://schemas.microsoft.com/office/powerpoint/2010/main" val="2847968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22C3404-B6AB-4EFE-9F4E-60BD52F02861}" type="slidenum">
              <a:t>1</a:t>
            </a:fld>
            <a:endParaRPr lang="en-US"/>
          </a:p>
        </p:txBody>
      </p:sp>
    </p:spTree>
    <p:extLst>
      <p:ext uri="{BB962C8B-B14F-4D97-AF65-F5344CB8AC3E}">
        <p14:creationId xmlns:p14="http://schemas.microsoft.com/office/powerpoint/2010/main" val="2236847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maturity progression. Everyone is somewhere on here, both personally and in their department. This typically doesn't apply to an organization as a whole because it's domain-specific — your accounting department may be in a different place than your sales department.</a:t>
            </a:r>
          </a:p>
          <a:p>
            <a:r>
              <a:rPr lang="en-US"/>
              <a:t>Stage 0 (Zero AI): You don't use AI for work. Maybe you write a Valentine's note with ChatGPT, but that's not work output.</a:t>
            </a:r>
          </a:p>
          <a:p>
            <a:r>
              <a:rPr lang="en-US"/>
              <a:t>From the Gallup workforce survey for 2025: less than 10% of knowledge workers use AI at least once a week. Those results are almost identical to 2020. Adoption has stalled hard because people don't understand how to overcome the walls between these waves.</a:t>
            </a:r>
          </a:p>
          <a:p>
            <a:r>
              <a:rPr lang="en-US"/>
              <a:t>These are big shifts, not in the technology, but in how we approach work. There's also an identity issue — 'I AM a controller' vs. 'I do controlling.' When you tie identity to the activity, AI becomes threatening.</a:t>
            </a:r>
          </a:p>
        </p:txBody>
      </p:sp>
      <p:sp>
        <p:nvSpPr>
          <p:cNvPr id="4" name="Slide Number Placeholder 3"/>
          <p:cNvSpPr>
            <a:spLocks noGrp="1"/>
          </p:cNvSpPr>
          <p:nvPr>
            <p:ph type="sldNum" sz="quarter" idx="5"/>
          </p:nvPr>
        </p:nvSpPr>
        <p:spPr/>
        <p:txBody>
          <a:bodyPr/>
          <a:lstStyle/>
          <a:p>
            <a:fld id="{3BDEB2A5-DDCF-604F-A595-5664085F7F7D}" type="slidenum">
              <a:rPr lang="en-MX" smtClean="0"/>
              <a:t>3</a:t>
            </a:fld>
            <a:endParaRPr lang="en-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Empowering AI with Tool Access</a:t>
            </a:r>
          </a:p>
        </p:txBody>
      </p:sp>
      <p:sp>
        <p:nvSpPr>
          <p:cNvPr id="4" name="Slide Number Placeholder 3"/>
          <p:cNvSpPr>
            <a:spLocks noGrp="1"/>
          </p:cNvSpPr>
          <p:nvPr>
            <p:ph type="sldNum" sz="quarter" idx="5"/>
          </p:nvPr>
        </p:nvSpPr>
        <p:spPr/>
        <p:txBody>
          <a:bodyPr/>
          <a:lstStyle/>
          <a:p>
            <a:fld id="{322C3404-B6AB-4EFE-9F4E-60BD52F02861}" type="slidenum">
              <a:t>4</a:t>
            </a:fld>
            <a:endParaRPr lang="en-US"/>
          </a:p>
        </p:txBody>
      </p:sp>
    </p:spTree>
    <p:extLst>
      <p:ext uri="{BB962C8B-B14F-4D97-AF65-F5344CB8AC3E}">
        <p14:creationId xmlns:p14="http://schemas.microsoft.com/office/powerpoint/2010/main" val="1287628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p:cNvSpPr>
            <a:spLocks noGrp="1"/>
          </p:cNvSpPr>
          <p:nvPr>
            <p:ph type="sldNum" sz="quarter" idx="5"/>
          </p:nvPr>
        </p:nvSpPr>
        <p:spPr/>
        <p:txBody>
          <a:bodyPr/>
          <a:lstStyle/>
          <a:p>
            <a:fld id="{322C3404-B6AB-4EFE-9F4E-60BD52F02861}" type="slidenum">
              <a:t>5</a:t>
            </a:fld>
            <a:endParaRPr lang="en-US"/>
          </a:p>
        </p:txBody>
      </p:sp>
    </p:spTree>
    <p:extLst>
      <p:ext uri="{BB962C8B-B14F-4D97-AF65-F5344CB8AC3E}">
        <p14:creationId xmlns:p14="http://schemas.microsoft.com/office/powerpoint/2010/main" val="4212615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0D53-94A1-CDAD-8F1D-E2A812726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E2751-CB9E-DBBE-E2EF-1ACD82E5D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89809-6390-8A19-18A6-99C32DEF5C73}"/>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340147AF-456E-B952-36B7-4DA71193B4BC}"/>
              </a:ext>
            </a:extLst>
          </p:cNvPr>
          <p:cNvSpPr>
            <a:spLocks noGrp="1"/>
          </p:cNvSpPr>
          <p:nvPr>
            <p:ph type="sldNum" sz="quarter" idx="5"/>
          </p:nvPr>
        </p:nvSpPr>
        <p:spPr/>
        <p:txBody>
          <a:bodyPr/>
          <a:lstStyle/>
          <a:p>
            <a:fld id="{322C3404-B6AB-4EFE-9F4E-60BD52F02861}" type="slidenum">
              <a:t>6</a:t>
            </a:fld>
            <a:endParaRPr lang="en-US"/>
          </a:p>
        </p:txBody>
      </p:sp>
    </p:spTree>
    <p:extLst>
      <p:ext uri="{BB962C8B-B14F-4D97-AF65-F5344CB8AC3E}">
        <p14:creationId xmlns:p14="http://schemas.microsoft.com/office/powerpoint/2010/main" val="3273276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1EC6-8DC6-9351-39F2-770D9B761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9B8F19-52EF-6849-CC2B-CA70F4216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26C8A-F234-1635-0CD8-BAE90016D756}"/>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BD2E5DE4-E122-F66E-8F79-128B94E21D60}"/>
              </a:ext>
            </a:extLst>
          </p:cNvPr>
          <p:cNvSpPr>
            <a:spLocks noGrp="1"/>
          </p:cNvSpPr>
          <p:nvPr>
            <p:ph type="sldNum" sz="quarter" idx="5"/>
          </p:nvPr>
        </p:nvSpPr>
        <p:spPr/>
        <p:txBody>
          <a:bodyPr/>
          <a:lstStyle/>
          <a:p>
            <a:fld id="{322C3404-B6AB-4EFE-9F4E-60BD52F02861}" type="slidenum">
              <a:t>7</a:t>
            </a:fld>
            <a:endParaRPr lang="en-US"/>
          </a:p>
        </p:txBody>
      </p:sp>
    </p:spTree>
    <p:extLst>
      <p:ext uri="{BB962C8B-B14F-4D97-AF65-F5344CB8AC3E}">
        <p14:creationId xmlns:p14="http://schemas.microsoft.com/office/powerpoint/2010/main" val="2941788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44C89-8D41-2552-A03B-B4FE9E4F3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B3D37-9AB6-EB56-2F27-26EE0E30C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17015-ABCF-B83C-5990-F190595A0105}"/>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06FC9422-6A2D-4DC2-1AF5-6BDBA0EFCA15}"/>
              </a:ext>
            </a:extLst>
          </p:cNvPr>
          <p:cNvSpPr>
            <a:spLocks noGrp="1"/>
          </p:cNvSpPr>
          <p:nvPr>
            <p:ph type="sldNum" sz="quarter" idx="5"/>
          </p:nvPr>
        </p:nvSpPr>
        <p:spPr/>
        <p:txBody>
          <a:bodyPr/>
          <a:lstStyle/>
          <a:p>
            <a:fld id="{322C3404-B6AB-4EFE-9F4E-60BD52F02861}" type="slidenum">
              <a:t>8</a:t>
            </a:fld>
            <a:endParaRPr lang="en-US"/>
          </a:p>
        </p:txBody>
      </p:sp>
    </p:spTree>
    <p:extLst>
      <p:ext uri="{BB962C8B-B14F-4D97-AF65-F5344CB8AC3E}">
        <p14:creationId xmlns:p14="http://schemas.microsoft.com/office/powerpoint/2010/main" val="889181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9F8C6-40B4-129A-2A84-4888B7C7B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239CA-35B1-F727-2DAB-9000F037A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924D2-FE31-5F19-407F-32792081983D}"/>
              </a:ext>
            </a:extLst>
          </p:cNvPr>
          <p:cNvSpPr>
            <a:spLocks noGrp="1"/>
          </p:cNvSpPr>
          <p:nvPr>
            <p:ph type="body" idx="1"/>
          </p:nvPr>
        </p:nvSpPr>
        <p:spPr/>
        <p:txBody>
          <a:bodyPr/>
          <a:lstStyle/>
          <a:p>
            <a:r>
              <a:rPr lang="en-US"/>
              <a:t>
The generative AI revolution has ushered in a new era of capabilities, enabling models to produce text, images, and other content with remarkable fluency. However, the next frontier in AI development is agency—the ability for models to interact with, query, and act upon the world around them. This shift from passive generation to active engagement requires a new approach to tool integration. Traditionally, each AI model needed a custom, often brittle integration for every external tool or data source, leading to the 'N x M integration problem.' This method is not scalable and hinders the broader adoption of AI in real-world applications. To address this, developers are exploring standardized frameworks that allow AI models to access tools like sales leads, code repositories, and IoT devices in a secure and reusable manner. This presentation introduces Anthropic’s Model Context Protocol (MCP), an open-source solution designed to solve these challenges and empower AI agents with robust tool access.</a:t>
            </a:r>
          </a:p>
        </p:txBody>
      </p:sp>
      <p:sp>
        <p:nvSpPr>
          <p:cNvPr id="4" name="Slide Number Placeholder 3">
            <a:extLst>
              <a:ext uri="{FF2B5EF4-FFF2-40B4-BE49-F238E27FC236}">
                <a16:creationId xmlns:a16="http://schemas.microsoft.com/office/drawing/2014/main" id="{8AB577AE-F8E2-E9D7-14B9-0363033F277D}"/>
              </a:ext>
            </a:extLst>
          </p:cNvPr>
          <p:cNvSpPr>
            <a:spLocks noGrp="1"/>
          </p:cNvSpPr>
          <p:nvPr>
            <p:ph type="sldNum" sz="quarter" idx="5"/>
          </p:nvPr>
        </p:nvSpPr>
        <p:spPr/>
        <p:txBody>
          <a:bodyPr/>
          <a:lstStyle/>
          <a:p>
            <a:fld id="{322C3404-B6AB-4EFE-9F4E-60BD52F02861}" type="slidenum">
              <a:t>9</a:t>
            </a:fld>
            <a:endParaRPr lang="en-US"/>
          </a:p>
        </p:txBody>
      </p:sp>
    </p:spTree>
    <p:extLst>
      <p:ext uri="{BB962C8B-B14F-4D97-AF65-F5344CB8AC3E}">
        <p14:creationId xmlns:p14="http://schemas.microsoft.com/office/powerpoint/2010/main" val="166975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 x M Integration Problem</a:t>
            </a:r>
          </a:p>
        </p:txBody>
      </p:sp>
      <p:sp>
        <p:nvSpPr>
          <p:cNvPr id="4" name="Slide Number Placeholder 3"/>
          <p:cNvSpPr>
            <a:spLocks noGrp="1"/>
          </p:cNvSpPr>
          <p:nvPr>
            <p:ph type="sldNum" sz="quarter" idx="5"/>
          </p:nvPr>
        </p:nvSpPr>
        <p:spPr/>
        <p:txBody>
          <a:bodyPr/>
          <a:lstStyle/>
          <a:p>
            <a:fld id="{322C3404-B6AB-4EFE-9F4E-60BD52F02861}" type="slidenum">
              <a:t>12</a:t>
            </a:fld>
            <a:endParaRPr lang="en-US"/>
          </a:p>
        </p:txBody>
      </p:sp>
    </p:spTree>
    <p:extLst>
      <p:ext uri="{BB962C8B-B14F-4D97-AF65-F5344CB8AC3E}">
        <p14:creationId xmlns:p14="http://schemas.microsoft.com/office/powerpoint/2010/main" val="2747912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and Architecture</a:t>
            </a:r>
          </a:p>
        </p:txBody>
      </p:sp>
      <p:sp>
        <p:nvSpPr>
          <p:cNvPr id="4" name="Slide Number Placeholder 3"/>
          <p:cNvSpPr>
            <a:spLocks noGrp="1"/>
          </p:cNvSpPr>
          <p:nvPr>
            <p:ph type="sldNum" sz="quarter" idx="5"/>
          </p:nvPr>
        </p:nvSpPr>
        <p:spPr/>
        <p:txBody>
          <a:bodyPr/>
          <a:lstStyle/>
          <a:p>
            <a:fld id="{322C3404-B6AB-4EFE-9F4E-60BD52F02861}" type="slidenum">
              <a:t>14</a:t>
            </a:fld>
            <a:endParaRPr lang="en-US"/>
          </a:p>
        </p:txBody>
      </p:sp>
    </p:spTree>
    <p:extLst>
      <p:ext uri="{BB962C8B-B14F-4D97-AF65-F5344CB8AC3E}">
        <p14:creationId xmlns:p14="http://schemas.microsoft.com/office/powerpoint/2010/main" val="1512310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Model Context Protocol (MCP) is an open-source framework developed by Anthropic to address the integration challenges faced by AI models. MCP serves as a universal connector, akin to a USB-C port, that standardizes how AI models discover and use external tools. Unlike simple function-calling mechanisms, MCP introduces a robust client-server architecture that facilitates secure and scalable interactions between AI agents and tools. The protocol defines a consistent interface for tool discovery, invocation, and context management, allowing models to access a wide range of resources without bespoke integrations. MCP supports both pre-built and custom servers, enabling developers to expose proprietary data and APIs in a compliant and secure manner. By adopting MCP, organizations can reduce integration overhead, improve interoperability, and accelerate the development of intelligent, context-aware AI agents. This architecture lays the foundation for a new ecosystem where tools and models can interact seamlessly, fostering innovation and collaboration across the AI community.</a:t>
            </a:r>
          </a:p>
        </p:txBody>
      </p:sp>
      <p:sp>
        <p:nvSpPr>
          <p:cNvPr id="4" name="Slide Number Placeholder 3"/>
          <p:cNvSpPr>
            <a:spLocks noGrp="1"/>
          </p:cNvSpPr>
          <p:nvPr>
            <p:ph type="sldNum" sz="quarter" idx="5"/>
          </p:nvPr>
        </p:nvSpPr>
        <p:spPr/>
        <p:txBody>
          <a:bodyPr/>
          <a:lstStyle/>
          <a:p>
            <a:fld id="{322C3404-B6AB-4EFE-9F4E-60BD52F02861}" type="slidenum">
              <a:t>15</a:t>
            </a:fld>
            <a:endParaRPr lang="en-US"/>
          </a:p>
        </p:txBody>
      </p:sp>
    </p:spTree>
    <p:extLst>
      <p:ext uri="{BB962C8B-B14F-4D97-AF65-F5344CB8AC3E}">
        <p14:creationId xmlns:p14="http://schemas.microsoft.com/office/powerpoint/2010/main" val="2859818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Creating a Collaborative Ecosystem</a:t>
            </a:r>
          </a:p>
        </p:txBody>
      </p:sp>
      <p:sp>
        <p:nvSpPr>
          <p:cNvPr id="4" name="Slide Number Placeholder 3"/>
          <p:cNvSpPr>
            <a:spLocks noGrp="1"/>
          </p:cNvSpPr>
          <p:nvPr>
            <p:ph type="sldNum" sz="quarter" idx="5"/>
          </p:nvPr>
        </p:nvSpPr>
        <p:spPr/>
        <p:txBody>
          <a:bodyPr/>
          <a:lstStyle/>
          <a:p>
            <a:fld id="{322C3404-B6AB-4EFE-9F4E-60BD52F02861}" type="slidenum">
              <a:t>21</a:t>
            </a:fld>
            <a:endParaRPr lang="en-US"/>
          </a:p>
        </p:txBody>
      </p:sp>
    </p:spTree>
    <p:extLst>
      <p:ext uri="{BB962C8B-B14F-4D97-AF65-F5344CB8AC3E}">
        <p14:creationId xmlns:p14="http://schemas.microsoft.com/office/powerpoint/2010/main" val="1163889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Standardizing AI tool integration through protocols like MCP offers numerous benefits that extend beyond individual projects. First, it reduces the need for bespoke connectors, saving time and resources while improving reliability. Second, it fosters a collaborative ecosystem where developers can share tools, servers, and best practices, accelerating innovation across the AI community. Third, it enhances security and compliance by providing consistent mechanisms for authentication and data access. MCP’s open-source nature encourages transparency and community contributions, leading to continuous improvement and broader adoption. By aligning on a common protocol, organizations can ensure that their AI models are compatible with a wide range of tools and environments, facilitating interoperability and scalability. This standardization also supports the development of intelligent agents that are not only capable of understanding and generating content but also of taking meaningful actions. In essence, MCP transforms AI from a passive technology into an active participant in digital ecosystems, paving the way for the next generation of context-aware, tool-enabled agents.</a:t>
            </a:r>
          </a:p>
        </p:txBody>
      </p:sp>
      <p:sp>
        <p:nvSpPr>
          <p:cNvPr id="4" name="Slide Number Placeholder 3"/>
          <p:cNvSpPr>
            <a:spLocks noGrp="1"/>
          </p:cNvSpPr>
          <p:nvPr>
            <p:ph type="sldNum" sz="quarter" idx="5"/>
          </p:nvPr>
        </p:nvSpPr>
        <p:spPr/>
        <p:txBody>
          <a:bodyPr/>
          <a:lstStyle/>
          <a:p>
            <a:fld id="{322C3404-B6AB-4EFE-9F4E-60BD52F02861}" type="slidenum">
              <a:t>22</a:t>
            </a:fld>
            <a:endParaRPr lang="en-US"/>
          </a:p>
        </p:txBody>
      </p:sp>
    </p:spTree>
    <p:extLst>
      <p:ext uri="{BB962C8B-B14F-4D97-AF65-F5344CB8AC3E}">
        <p14:creationId xmlns:p14="http://schemas.microsoft.com/office/powerpoint/2010/main" val="98862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the Next Generation of AI Agents</a:t>
            </a:r>
          </a:p>
        </p:txBody>
      </p:sp>
      <p:sp>
        <p:nvSpPr>
          <p:cNvPr id="4" name="Slide Number Placeholder 3"/>
          <p:cNvSpPr>
            <a:spLocks noGrp="1"/>
          </p:cNvSpPr>
          <p:nvPr>
            <p:ph type="sldNum" sz="quarter" idx="5"/>
          </p:nvPr>
        </p:nvSpPr>
        <p:spPr/>
        <p:txBody>
          <a:bodyPr/>
          <a:lstStyle/>
          <a:p>
            <a:fld id="{322C3404-B6AB-4EFE-9F4E-60BD52F02861}" type="slidenum">
              <a:t>24</a:t>
            </a:fld>
            <a:endParaRPr lang="en-US"/>
          </a:p>
        </p:txBody>
      </p:sp>
    </p:spTree>
    <p:extLst>
      <p:ext uri="{BB962C8B-B14F-4D97-AF65-F5344CB8AC3E}">
        <p14:creationId xmlns:p14="http://schemas.microsoft.com/office/powerpoint/2010/main" val="1777038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journey from generative AI to agentic AI represents a significant evolution in the field. By adopting the Model Context Protocol, developers can move beyond building one-off connectors and start creating intelligent agents that interact with the world in meaningful ways. MCP provides the tools and standards necessary to integrate AI models with external resources securely and efficiently. This session has introduced the core concepts of MCP, demonstrated its practical applications through pre-built and custom servers, and highlighted the benefits of standardized integration. Developers are encouraged to explore MCP, contribute to its ecosystem, and leverage its capabilities to build AI agents that don’t just talk, but act. The future of AI lies in its ability to understand context, make decisions, and perform tasks autonomously. MCP is a foundational step toward realizing this vision, and by embracing it, developers can play a pivotal role in shaping the next generation of AI technology.</a:t>
            </a:r>
          </a:p>
        </p:txBody>
      </p:sp>
      <p:sp>
        <p:nvSpPr>
          <p:cNvPr id="4" name="Slide Number Placeholder 3"/>
          <p:cNvSpPr>
            <a:spLocks noGrp="1"/>
          </p:cNvSpPr>
          <p:nvPr>
            <p:ph type="sldNum" sz="quarter" idx="5"/>
          </p:nvPr>
        </p:nvSpPr>
        <p:spPr/>
        <p:txBody>
          <a:bodyPr/>
          <a:lstStyle/>
          <a:p>
            <a:fld id="{322C3404-B6AB-4EFE-9F4E-60BD52F02861}" type="slidenum">
              <a:t>25</a:t>
            </a:fld>
            <a:endParaRPr lang="en-US"/>
          </a:p>
        </p:txBody>
      </p:sp>
    </p:spTree>
    <p:extLst>
      <p:ext uri="{BB962C8B-B14F-4D97-AF65-F5344CB8AC3E}">
        <p14:creationId xmlns:p14="http://schemas.microsoft.com/office/powerpoint/2010/main" val="2606518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3/11/26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348744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18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3/11/26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257559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045250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9352720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265177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endParaRPr lang="en-US" dirty="0"/>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3/11/26</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04395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endParaRPr lang="en-US" dirty="0"/>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3/11/26</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74743940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9982875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346078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8205866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0345979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4749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531384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26475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07033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2817072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09356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48609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endParaRPr lang="en-US" dirty="0"/>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3/11/26</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77271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3/11/26</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536086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084256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3/11/26</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162500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9780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3/11/26</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89083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3/11/26</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3645795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3/11/26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927727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0739043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5222791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3/11/26</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4871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3/11/26</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6195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3/11/26</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8713917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3/11/26</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302683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3/11/26</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59861208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386576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23790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29049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3/11/26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704177406"/>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3206648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3/11/26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94237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3/11/26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32739059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3/11/26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235213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3/11/26</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523611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3/11/26</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468762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4423177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78428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3/11/26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0806782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7794816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3/11/26</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5921783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3/11/26</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78574698"/>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94640" y="1284923"/>
            <a:ext cx="5705856" cy="4874578"/>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244336" y="1284924"/>
            <a:ext cx="5730240" cy="4874577"/>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hasCustomPrompt="1"/>
          </p:nvPr>
        </p:nvSpPr>
        <p:spPr>
          <a:xfrm>
            <a:off x="289400" y="169154"/>
            <a:ext cx="11634376" cy="654576"/>
          </a:xfrm>
        </p:spPr>
        <p:txBody>
          <a:bodyPr>
            <a:normAutofit/>
          </a:bodyPr>
          <a:lstStyle>
            <a:lvl1pPr>
              <a:defRPr sz="3600" b="1" i="0" baseline="0">
                <a:solidFill>
                  <a:schemeClr val="tx1"/>
                </a:solidFill>
                <a:latin typeface="+mj-lt"/>
                <a:ea typeface="Tahoma" charset="0"/>
                <a:cs typeface="Tahoma" charset="0"/>
              </a:defRPr>
            </a:lvl1pPr>
          </a:lstStyle>
          <a:p>
            <a:r>
              <a:rPr lang="en-US"/>
              <a:t>Slide Title</a:t>
            </a:r>
          </a:p>
        </p:txBody>
      </p:sp>
      <p:sp>
        <p:nvSpPr>
          <p:cNvPr id="10" name="Subtitle 2"/>
          <p:cNvSpPr>
            <a:spLocks noGrp="1"/>
          </p:cNvSpPr>
          <p:nvPr>
            <p:ph type="subTitle" idx="15" hasCustomPrompt="1"/>
          </p:nvPr>
        </p:nvSpPr>
        <p:spPr>
          <a:xfrm>
            <a:off x="289400" y="823731"/>
            <a:ext cx="11634376" cy="340973"/>
          </a:xfrm>
        </p:spPr>
        <p:txBody>
          <a:bodyPr>
            <a:normAutofit/>
          </a:bodyPr>
          <a:lstStyle>
            <a:lvl1pPr marL="0" indent="0" algn="l">
              <a:buNone/>
              <a:defRPr sz="1600" b="0" i="0">
                <a:solidFill>
                  <a:schemeClr val="tx1"/>
                </a:solidFill>
                <a:latin typeface="+mn-lt"/>
                <a:ea typeface="Tahoma" charset="0"/>
                <a:cs typeface="Tahoma"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 </a:t>
            </a:r>
          </a:p>
        </p:txBody>
      </p:sp>
      <p:sp>
        <p:nvSpPr>
          <p:cNvPr id="15" name="Date Placeholder 3"/>
          <p:cNvSpPr>
            <a:spLocks noGrp="1"/>
          </p:cNvSpPr>
          <p:nvPr>
            <p:ph type="dt" sz="half" idx="2"/>
          </p:nvPr>
        </p:nvSpPr>
        <p:spPr>
          <a:xfrm>
            <a:off x="1251588" y="6356353"/>
            <a:ext cx="121073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8702F-412C-4CEF-ABE7-C49B765E9059}" type="datetimeFigureOut">
              <a:rPr lang="en-US" smtClean="0"/>
              <a:t>3/11/26</a:t>
            </a:fld>
            <a:endParaRPr lang="en-US"/>
          </a:p>
        </p:txBody>
      </p:sp>
      <p:sp>
        <p:nvSpPr>
          <p:cNvPr id="16" name="Footer Placeholder 4"/>
          <p:cNvSpPr>
            <a:spLocks noGrp="1"/>
          </p:cNvSpPr>
          <p:nvPr>
            <p:ph type="ftr" sz="quarter" idx="3"/>
          </p:nvPr>
        </p:nvSpPr>
        <p:spPr>
          <a:xfrm>
            <a:off x="2654042" y="6356353"/>
            <a:ext cx="77737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7" name="Slide Number Placeholder 5"/>
          <p:cNvSpPr>
            <a:spLocks noGrp="1"/>
          </p:cNvSpPr>
          <p:nvPr>
            <p:ph type="sldNum" sz="quarter" idx="4"/>
          </p:nvPr>
        </p:nvSpPr>
        <p:spPr>
          <a:xfrm>
            <a:off x="289400" y="6356353"/>
            <a:ext cx="77046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4B51C-DFC7-4853-98B8-136744874381}" type="slidenum">
              <a:rPr lang="en-US" smtClean="0"/>
              <a:t>‹#›</a:t>
            </a:fld>
            <a:endParaRPr lang="en-US"/>
          </a:p>
        </p:txBody>
      </p:sp>
    </p:spTree>
    <p:extLst>
      <p:ext uri="{BB962C8B-B14F-4D97-AF65-F5344CB8AC3E}">
        <p14:creationId xmlns:p14="http://schemas.microsoft.com/office/powerpoint/2010/main" val="410900164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3/11/26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94232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FC3EA-AFDC-CA9C-C0DC-8C90A9E3E102}"/>
              </a:ext>
            </a:extLst>
          </p:cNvPr>
          <p:cNvSpPr>
            <a:spLocks noGrp="1"/>
          </p:cNvSpPr>
          <p:nvPr>
            <p:ph type="ctrTitle"/>
          </p:nvPr>
        </p:nvSpPr>
        <p:spPr>
          <a:xfrm>
            <a:off x="522732" y="4965192"/>
            <a:ext cx="11146536" cy="786384"/>
          </a:xfrm>
        </p:spPr>
        <p:txBody>
          <a:bodyPr anchor="b">
            <a:normAutofit/>
          </a:bodyPr>
          <a:lstStyle/>
          <a:p>
            <a:r>
              <a:rPr lang="en-US"/>
              <a:t>Tools in your AI's Toolbox: An Introduction to MCP Servers</a:t>
            </a:r>
          </a:p>
        </p:txBody>
      </p:sp>
      <p:sp>
        <p:nvSpPr>
          <p:cNvPr id="3" name="Subtitle 2">
            <a:extLst>
              <a:ext uri="{FF2B5EF4-FFF2-40B4-BE49-F238E27FC236}">
                <a16:creationId xmlns:a16="http://schemas.microsoft.com/office/drawing/2014/main" id="{B5B5E7D2-63CA-BA33-694F-8722630F4B0F}"/>
              </a:ext>
            </a:extLst>
          </p:cNvPr>
          <p:cNvSpPr>
            <a:spLocks noGrp="1"/>
          </p:cNvSpPr>
          <p:nvPr>
            <p:ph type="subTitle" idx="1"/>
          </p:nvPr>
        </p:nvSpPr>
        <p:spPr>
          <a:xfrm>
            <a:off x="1143000" y="5806440"/>
            <a:ext cx="9902952" cy="576072"/>
          </a:xfrm>
        </p:spPr>
        <p:txBody>
          <a:bodyPr anchor="t">
            <a:normAutofit/>
          </a:bodyPr>
          <a:lstStyle/>
          <a:p>
            <a:r>
              <a:rPr lang="en-US"/>
              <a:t>Understanding key technologies powering AI systems</a:t>
            </a:r>
          </a:p>
        </p:txBody>
      </p:sp>
      <p:pic>
        <p:nvPicPr>
          <p:cNvPr id="4" name="Picture 3" descr="Modern data center and technology background">
            <a:extLst>
              <a:ext uri="{FF2B5EF4-FFF2-40B4-BE49-F238E27FC236}">
                <a16:creationId xmlns:a16="http://schemas.microsoft.com/office/drawing/2014/main" id="{959287D2-7657-43C2-ABF0-B7883861C4BD}"/>
              </a:ext>
            </a:extLst>
          </p:cNvPr>
          <p:cNvPicPr>
            <a:picLocks noChangeAspect="1"/>
          </p:cNvPicPr>
          <p:nvPr/>
        </p:nvPicPr>
        <p:blipFill>
          <a:blip r:embed="rId3"/>
          <a:srcRect t="14448" r="-1" b="30333"/>
          <a:stretch>
            <a:fillRect/>
          </a:stretch>
        </p:blipFill>
        <p:spPr>
          <a:xfrm>
            <a:off x="20" y="10"/>
            <a:ext cx="12188932" cy="4492669"/>
          </a:xfrm>
          <a:prstGeom prst="rect">
            <a:avLst/>
          </a:prstGeom>
          <a:noFill/>
        </p:spPr>
      </p:pic>
    </p:spTree>
    <p:extLst>
      <p:ext uri="{BB962C8B-B14F-4D97-AF65-F5344CB8AC3E}">
        <p14:creationId xmlns:p14="http://schemas.microsoft.com/office/powerpoint/2010/main" val="92542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52CA08-BFB4-E89B-4D92-B77BCC2B40CA}"/>
              </a:ext>
            </a:extLst>
          </p:cNvPr>
          <p:cNvSpPr>
            <a:spLocks noGrp="1"/>
          </p:cNvSpPr>
          <p:nvPr>
            <p:ph type="title"/>
          </p:nvPr>
        </p:nvSpPr>
        <p:spPr>
          <a:xfrm>
            <a:off x="5970589" y="131546"/>
            <a:ext cx="5664198" cy="863023"/>
          </a:xfrm>
        </p:spPr>
        <p:txBody>
          <a:bodyPr>
            <a:normAutofit fontScale="90000"/>
          </a:bodyPr>
          <a:lstStyle/>
          <a:p>
            <a:r>
              <a:rPr lang="en-US" dirty="0"/>
              <a:t>Tim Rayburn</a:t>
            </a:r>
          </a:p>
        </p:txBody>
      </p:sp>
      <p:sp>
        <p:nvSpPr>
          <p:cNvPr id="6" name="Content Placeholder 5">
            <a:extLst>
              <a:ext uri="{FF2B5EF4-FFF2-40B4-BE49-F238E27FC236}">
                <a16:creationId xmlns:a16="http://schemas.microsoft.com/office/drawing/2014/main" id="{48FF2279-58EF-0FFD-23EC-F46B5F9C650B}"/>
              </a:ext>
            </a:extLst>
          </p:cNvPr>
          <p:cNvSpPr>
            <a:spLocks noGrp="1"/>
          </p:cNvSpPr>
          <p:nvPr>
            <p:ph sz="quarter" idx="13"/>
          </p:nvPr>
        </p:nvSpPr>
        <p:spPr>
          <a:xfrm>
            <a:off x="5785980" y="994569"/>
            <a:ext cx="6351199" cy="5597005"/>
          </a:xfrm>
        </p:spPr>
        <p:txBody>
          <a:bodyPr anchor="t">
            <a:normAutofit/>
          </a:bodyPr>
          <a:lstStyle/>
          <a:p>
            <a:r>
              <a:rPr lang="en-US" dirty="0">
                <a:latin typeface="Calibri" panose="020F0502020204030204" pitchFamily="34" charset="0"/>
                <a:ea typeface="Calibri" panose="020F0502020204030204" pitchFamily="34" charset="0"/>
                <a:cs typeface="Calibri" panose="020F0502020204030204" pitchFamily="34" charset="0"/>
              </a:rPr>
              <a:t>11-time </a:t>
            </a:r>
            <a:r>
              <a:rPr lang="en-US" b="1" dirty="0">
                <a:latin typeface="Calibri" panose="020F0502020204030204" pitchFamily="34" charset="0"/>
                <a:ea typeface="Calibri" panose="020F0502020204030204" pitchFamily="34" charset="0"/>
                <a:cs typeface="Calibri" panose="020F0502020204030204" pitchFamily="34" charset="0"/>
              </a:rPr>
              <a:t>Microsoft MVP </a:t>
            </a:r>
            <a:r>
              <a:rPr lang="en-US" dirty="0">
                <a:latin typeface="Calibri" panose="020F0502020204030204" pitchFamily="34" charset="0"/>
                <a:ea typeface="Calibri" panose="020F0502020204030204" pitchFamily="34" charset="0"/>
                <a:cs typeface="Calibri" panose="020F0502020204030204" pitchFamily="34" charset="0"/>
              </a:rPr>
              <a:t>(2007-2018)</a:t>
            </a:r>
          </a:p>
          <a:p>
            <a:r>
              <a:rPr lang="en-US" b="1" dirty="0">
                <a:latin typeface="Calibri" panose="020F0502020204030204" pitchFamily="34" charset="0"/>
                <a:ea typeface="Calibri" panose="020F0502020204030204" pitchFamily="34" charset="0"/>
                <a:cs typeface="Calibri" panose="020F0502020204030204" pitchFamily="34" charset="0"/>
              </a:rPr>
              <a:t>Open Source Maintainer</a:t>
            </a:r>
            <a:r>
              <a:rPr lang="en-US" dirty="0">
                <a:latin typeface="Calibri" panose="020F0502020204030204" pitchFamily="34" charset="0"/>
                <a:ea typeface="Calibri" panose="020F0502020204030204" pitchFamily="34" charset="0"/>
                <a:cs typeface="Calibri" panose="020F0502020204030204" pitchFamily="34" charset="0"/>
              </a:rPr>
              <a:t> for Highway Framework</a:t>
            </a:r>
          </a:p>
          <a:p>
            <a:r>
              <a:rPr lang="en-US" b="1" dirty="0">
                <a:latin typeface="Calibri" panose="020F0502020204030204" pitchFamily="34" charset="0"/>
                <a:ea typeface="Calibri" panose="020F0502020204030204" pitchFamily="34" charset="0"/>
                <a:cs typeface="Calibri" panose="020F0502020204030204" pitchFamily="34" charset="0"/>
              </a:rPr>
              <a:t>BBQ Fanatic </a:t>
            </a:r>
            <a:r>
              <a:rPr lang="en-US" dirty="0">
                <a:latin typeface="Calibri" panose="020F0502020204030204" pitchFamily="34" charset="0"/>
                <a:ea typeface="Calibri" panose="020F0502020204030204" pitchFamily="34" charset="0"/>
                <a:cs typeface="Calibri" panose="020F0502020204030204" pitchFamily="34" charset="0"/>
              </a:rPr>
              <a:t>– Feed over 200 people every July 4</a:t>
            </a:r>
            <a:r>
              <a:rPr lang="en-US" baseline="30000" dirty="0">
                <a:latin typeface="Calibri" panose="020F0502020204030204" pitchFamily="34" charset="0"/>
                <a:ea typeface="Calibri" panose="020F0502020204030204" pitchFamily="34" charset="0"/>
                <a:cs typeface="Calibri" panose="020F0502020204030204" pitchFamily="34" charset="0"/>
              </a:rPr>
              <a:t>th</a:t>
            </a:r>
            <a:r>
              <a:rPr lang="en-US" dirty="0">
                <a:latin typeface="Calibri" panose="020F0502020204030204" pitchFamily="34" charset="0"/>
                <a:ea typeface="Calibri" panose="020F0502020204030204" pitchFamily="34" charset="0"/>
                <a:cs typeface="Calibri" panose="020F0502020204030204" pitchFamily="34" charset="0"/>
              </a:rPr>
              <a:t> at the Improving Dallas office</a:t>
            </a:r>
          </a:p>
          <a:p>
            <a:r>
              <a:rPr lang="en-US" b="1" dirty="0">
                <a:latin typeface="Calibri" panose="020F0502020204030204" pitchFamily="34" charset="0"/>
                <a:ea typeface="Calibri" panose="020F0502020204030204" pitchFamily="34" charset="0"/>
                <a:cs typeface="Calibri" panose="020F0502020204030204" pitchFamily="34" charset="0"/>
              </a:rPr>
              <a:t>Soccer Fan </a:t>
            </a:r>
            <a:r>
              <a:rPr lang="en-US" dirty="0">
                <a:latin typeface="Calibri" panose="020F0502020204030204" pitchFamily="34" charset="0"/>
                <a:ea typeface="Calibri" panose="020F0502020204030204" pitchFamily="34" charset="0"/>
                <a:cs typeface="Calibri" panose="020F0502020204030204" pitchFamily="34" charset="0"/>
              </a:rPr>
              <a:t>– Season ticket holder for FC Dallas, Followed the USWNT through the World Cup playoff rounds in France (2019)</a:t>
            </a:r>
          </a:p>
          <a:p>
            <a:r>
              <a:rPr lang="en-US" dirty="0">
                <a:latin typeface="Calibri" panose="020F0502020204030204" pitchFamily="34" charset="0"/>
                <a:ea typeface="Calibri" panose="020F0502020204030204" pitchFamily="34" charset="0"/>
                <a:cs typeface="Calibri" panose="020F0502020204030204" pitchFamily="34" charset="0"/>
              </a:rPr>
              <a:t>Former </a:t>
            </a:r>
            <a:r>
              <a:rPr lang="en-US" b="1" dirty="0">
                <a:latin typeface="Calibri" panose="020F0502020204030204" pitchFamily="34" charset="0"/>
                <a:ea typeface="Calibri" panose="020F0502020204030204" pitchFamily="34" charset="0"/>
                <a:cs typeface="Calibri" panose="020F0502020204030204" pitchFamily="34" charset="0"/>
              </a:rPr>
              <a:t>Game Store Owner</a:t>
            </a:r>
          </a:p>
          <a:p>
            <a:r>
              <a:rPr lang="en-US" dirty="0">
                <a:latin typeface="Calibri" panose="020F0502020204030204" pitchFamily="34" charset="0"/>
                <a:ea typeface="Calibri" panose="020F0502020204030204" pitchFamily="34" charset="0"/>
                <a:cs typeface="Calibri" panose="020F0502020204030204" pitchFamily="34" charset="0"/>
              </a:rPr>
              <a:t>Avid </a:t>
            </a:r>
            <a:r>
              <a:rPr lang="en-US" b="1" dirty="0">
                <a:latin typeface="Calibri" panose="020F0502020204030204" pitchFamily="34" charset="0"/>
                <a:ea typeface="Calibri" panose="020F0502020204030204" pitchFamily="34" charset="0"/>
                <a:cs typeface="Calibri" panose="020F0502020204030204" pitchFamily="34" charset="0"/>
              </a:rPr>
              <a:t>Magic the Gathering </a:t>
            </a:r>
            <a:r>
              <a:rPr lang="en-US" dirty="0">
                <a:latin typeface="Calibri" panose="020F0502020204030204" pitchFamily="34" charset="0"/>
                <a:ea typeface="Calibri" panose="020F0502020204030204" pitchFamily="34" charset="0"/>
                <a:cs typeface="Calibri" panose="020F0502020204030204" pitchFamily="34" charset="0"/>
              </a:rPr>
              <a:t>player (Commander)</a:t>
            </a:r>
          </a:p>
          <a:p>
            <a:r>
              <a:rPr lang="en-US" dirty="0">
                <a:latin typeface="Calibri" panose="020F0502020204030204" pitchFamily="34" charset="0"/>
                <a:ea typeface="Calibri" panose="020F0502020204030204" pitchFamily="34" charset="0"/>
                <a:cs typeface="Calibri" panose="020F0502020204030204" pitchFamily="34" charset="0"/>
              </a:rPr>
              <a:t>Former</a:t>
            </a:r>
            <a:r>
              <a:rPr lang="en-US" b="1" dirty="0">
                <a:latin typeface="Calibri" panose="020F0502020204030204" pitchFamily="34" charset="0"/>
                <a:ea typeface="Calibri" panose="020F0502020204030204" pitchFamily="34" charset="0"/>
                <a:cs typeface="Calibri" panose="020F0502020204030204" pitchFamily="34" charset="0"/>
              </a:rPr>
              <a:t> D&amp;D Podcaster </a:t>
            </a:r>
            <a:r>
              <a:rPr lang="en-US" dirty="0">
                <a:latin typeface="Calibri" panose="020F0502020204030204" pitchFamily="34" charset="0"/>
                <a:ea typeface="Calibri" panose="020F0502020204030204" pitchFamily="34" charset="0"/>
                <a:cs typeface="Calibri" panose="020F0502020204030204" pitchFamily="34" charset="0"/>
              </a:rPr>
              <a:t>(Radio Free </a:t>
            </a:r>
            <a:r>
              <a:rPr lang="en-US" dirty="0" err="1">
                <a:latin typeface="Calibri" panose="020F0502020204030204" pitchFamily="34" charset="0"/>
                <a:ea typeface="Calibri" panose="020F0502020204030204" pitchFamily="34" charset="0"/>
                <a:cs typeface="Calibri" panose="020F0502020204030204" pitchFamily="34" charset="0"/>
              </a:rPr>
              <a:t>Hommlet</a:t>
            </a:r>
            <a:r>
              <a:rPr lang="en-US" dirty="0">
                <a:latin typeface="Calibri" panose="020F0502020204030204" pitchFamily="34" charset="0"/>
                <a:ea typeface="Calibri" panose="020F0502020204030204" pitchFamily="34" charset="0"/>
                <a:cs typeface="Calibri" panose="020F0502020204030204" pitchFamily="34" charset="0"/>
              </a:rPr>
              <a:t>)</a:t>
            </a:r>
          </a:p>
          <a:p>
            <a:r>
              <a:rPr lang="en-US" b="1" dirty="0">
                <a:latin typeface="Calibri" panose="020F0502020204030204" pitchFamily="34" charset="0"/>
                <a:ea typeface="Calibri" panose="020F0502020204030204" pitchFamily="34" charset="0"/>
                <a:cs typeface="Calibri" panose="020F0502020204030204" pitchFamily="34" charset="0"/>
              </a:rPr>
              <a:t>Drone Pilot</a:t>
            </a:r>
          </a:p>
          <a:p>
            <a:r>
              <a:rPr lang="en-US" b="1" dirty="0">
                <a:latin typeface="Calibri" panose="020F0502020204030204" pitchFamily="34" charset="0"/>
                <a:ea typeface="Calibri" panose="020F0502020204030204" pitchFamily="34" charset="0"/>
                <a:cs typeface="Calibri" panose="020F0502020204030204" pitchFamily="34" charset="0"/>
              </a:rPr>
              <a:t>Specialization is for Insects.</a:t>
            </a:r>
          </a:p>
        </p:txBody>
      </p:sp>
      <p:pic>
        <p:nvPicPr>
          <p:cNvPr id="9" name="Content Placeholder 9" descr="A picture containing person, person, outdoor, standing&#10;&#10;Description automatically generated">
            <a:extLst>
              <a:ext uri="{FF2B5EF4-FFF2-40B4-BE49-F238E27FC236}">
                <a16:creationId xmlns:a16="http://schemas.microsoft.com/office/drawing/2014/main" id="{8B421111-3E74-15D2-B0D7-5DF537E91BA1}"/>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10532" r="10532"/>
          <a:stretch>
            <a:fillRect/>
          </a:stretch>
        </p:blipFill>
        <p:spPr>
          <a:xfrm>
            <a:off x="119063" y="0"/>
            <a:ext cx="5413375" cy="6858000"/>
          </a:xfrm>
        </p:spPr>
      </p:pic>
    </p:spTree>
    <p:extLst>
      <p:ext uri="{BB962C8B-B14F-4D97-AF65-F5344CB8AC3E}">
        <p14:creationId xmlns:p14="http://schemas.microsoft.com/office/powerpoint/2010/main" val="4031217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584775"/>
          </a:xfrm>
          <a:prstGeom prst="rect">
            <a:avLst/>
          </a:prstGeom>
          <a:noFill/>
        </p:spPr>
        <p:txBody>
          <a:bodyPr wrap="square">
            <a:spAutoFit/>
          </a:bodyPr>
          <a:lstStyle/>
          <a:p>
            <a:pPr algn="l">
              <a:defRPr sz="3200" b="1">
                <a:solidFill>
                  <a:srgbClr val="005596"/>
                </a:solidFill>
                <a:latin typeface="Arial"/>
              </a:defRPr>
            </a:pPr>
            <a:r>
              <a:rPr lang="en-US" dirty="0"/>
              <a:t>Where are you today?</a:t>
            </a:r>
            <a:endParaRPr dirty="0"/>
          </a:p>
        </p:txBody>
      </p:sp>
      <p:sp>
        <p:nvSpPr>
          <p:cNvPr id="4" name="Rectangle 3"/>
          <p:cNvSpPr/>
          <p:nvPr/>
        </p:nvSpPr>
        <p:spPr>
          <a:xfrm>
            <a:off x="365760" y="5223053"/>
            <a:ext cx="1371600" cy="4572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490301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a:t>
            </a:r>
          </a:p>
        </p:txBody>
      </p:sp>
      <p:sp>
        <p:nvSpPr>
          <p:cNvPr id="6" name="TextBox 5"/>
          <p:cNvSpPr txBox="1"/>
          <p:nvPr/>
        </p:nvSpPr>
        <p:spPr>
          <a:xfrm>
            <a:off x="365760" y="5268773"/>
            <a:ext cx="1371600" cy="365760"/>
          </a:xfrm>
          <a:prstGeom prst="rect">
            <a:avLst/>
          </a:prstGeom>
          <a:noFill/>
        </p:spPr>
        <p:txBody>
          <a:bodyPr wrap="square">
            <a:spAutoFit/>
          </a:bodyPr>
          <a:lstStyle/>
          <a:p>
            <a:pPr algn="ctr">
              <a:defRPr sz="1000" b="1">
                <a:solidFill>
                  <a:srgbClr val="FFFFFF"/>
                </a:solidFill>
                <a:latin typeface="Arial"/>
              </a:defRPr>
            </a:pPr>
            <a:r>
              <a:t>Zero AI</a:t>
            </a:r>
          </a:p>
        </p:txBody>
      </p:sp>
      <p:sp>
        <p:nvSpPr>
          <p:cNvPr id="7" name="Rectangle 6"/>
          <p:cNvSpPr/>
          <p:nvPr/>
        </p:nvSpPr>
        <p:spPr>
          <a:xfrm>
            <a:off x="1810512" y="4811573"/>
            <a:ext cx="1371600" cy="8686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267712" y="4491533"/>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2</a:t>
            </a:r>
          </a:p>
        </p:txBody>
      </p:sp>
      <p:sp>
        <p:nvSpPr>
          <p:cNvPr id="9" name="TextBox 8"/>
          <p:cNvSpPr txBox="1"/>
          <p:nvPr/>
        </p:nvSpPr>
        <p:spPr>
          <a:xfrm>
            <a:off x="1810512" y="4857293"/>
            <a:ext cx="1371600" cy="246221"/>
          </a:xfrm>
          <a:prstGeom prst="rect">
            <a:avLst/>
          </a:prstGeom>
          <a:noFill/>
        </p:spPr>
        <p:txBody>
          <a:bodyPr wrap="square">
            <a:spAutoFit/>
          </a:bodyPr>
          <a:lstStyle/>
          <a:p>
            <a:pPr algn="ctr">
              <a:defRPr sz="1000" b="1">
                <a:solidFill>
                  <a:srgbClr val="FFFFFF"/>
                </a:solidFill>
                <a:latin typeface="Arial"/>
              </a:defRPr>
            </a:pPr>
            <a:r>
              <a:rPr lang="en-US"/>
              <a:t>Off the shelf</a:t>
            </a:r>
            <a:endParaRPr/>
          </a:p>
        </p:txBody>
      </p:sp>
      <p:sp>
        <p:nvSpPr>
          <p:cNvPr id="10" name="Rectangle 9"/>
          <p:cNvSpPr/>
          <p:nvPr/>
        </p:nvSpPr>
        <p:spPr>
          <a:xfrm>
            <a:off x="3255264" y="4400093"/>
            <a:ext cx="137160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712464" y="408005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3</a:t>
            </a:r>
          </a:p>
        </p:txBody>
      </p:sp>
      <p:sp>
        <p:nvSpPr>
          <p:cNvPr id="12" name="TextBox 11"/>
          <p:cNvSpPr txBox="1"/>
          <p:nvPr/>
        </p:nvSpPr>
        <p:spPr>
          <a:xfrm>
            <a:off x="3255264" y="4445813"/>
            <a:ext cx="1371600" cy="246221"/>
          </a:xfrm>
          <a:prstGeom prst="rect">
            <a:avLst/>
          </a:prstGeom>
          <a:noFill/>
        </p:spPr>
        <p:txBody>
          <a:bodyPr wrap="square">
            <a:spAutoFit/>
          </a:bodyPr>
          <a:lstStyle/>
          <a:p>
            <a:pPr algn="ctr">
              <a:defRPr sz="1000" b="1">
                <a:solidFill>
                  <a:srgbClr val="FFFFFF"/>
                </a:solidFill>
                <a:latin typeface="Arial"/>
              </a:defRPr>
            </a:pPr>
            <a:r>
              <a:rPr lang="en-US"/>
              <a:t>Task</a:t>
            </a:r>
            <a:endParaRPr/>
          </a:p>
        </p:txBody>
      </p:sp>
      <p:sp>
        <p:nvSpPr>
          <p:cNvPr id="13" name="Rectangle 12"/>
          <p:cNvSpPr/>
          <p:nvPr/>
        </p:nvSpPr>
        <p:spPr>
          <a:xfrm>
            <a:off x="4700016" y="3988613"/>
            <a:ext cx="1371600" cy="169164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157216" y="3668573"/>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4</a:t>
            </a:r>
          </a:p>
        </p:txBody>
      </p:sp>
      <p:sp>
        <p:nvSpPr>
          <p:cNvPr id="15" name="TextBox 14"/>
          <p:cNvSpPr txBox="1"/>
          <p:nvPr/>
        </p:nvSpPr>
        <p:spPr>
          <a:xfrm>
            <a:off x="4700016" y="4034333"/>
            <a:ext cx="1371600" cy="246221"/>
          </a:xfrm>
          <a:prstGeom prst="rect">
            <a:avLst/>
          </a:prstGeom>
          <a:noFill/>
        </p:spPr>
        <p:txBody>
          <a:bodyPr wrap="square">
            <a:spAutoFit/>
          </a:bodyPr>
          <a:lstStyle/>
          <a:p>
            <a:pPr algn="ctr">
              <a:defRPr sz="1000" b="1">
                <a:solidFill>
                  <a:srgbClr val="FFFFFF"/>
                </a:solidFill>
                <a:latin typeface="Arial"/>
              </a:defRPr>
            </a:pPr>
            <a:r>
              <a:t>W</a:t>
            </a:r>
            <a:r>
              <a:rPr lang="en-US"/>
              <a:t>orkflow</a:t>
            </a:r>
            <a:endParaRPr/>
          </a:p>
        </p:txBody>
      </p:sp>
      <p:sp>
        <p:nvSpPr>
          <p:cNvPr id="16" name="Rectangle 15"/>
          <p:cNvSpPr/>
          <p:nvPr/>
        </p:nvSpPr>
        <p:spPr>
          <a:xfrm>
            <a:off x="6144768" y="3577133"/>
            <a:ext cx="1371600" cy="210312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601968" y="325709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5</a:t>
            </a:r>
          </a:p>
        </p:txBody>
      </p:sp>
      <p:sp>
        <p:nvSpPr>
          <p:cNvPr id="18" name="TextBox 17"/>
          <p:cNvSpPr txBox="1"/>
          <p:nvPr/>
        </p:nvSpPr>
        <p:spPr>
          <a:xfrm>
            <a:off x="6144768" y="3622853"/>
            <a:ext cx="1371600" cy="246221"/>
          </a:xfrm>
          <a:prstGeom prst="rect">
            <a:avLst/>
          </a:prstGeom>
          <a:noFill/>
        </p:spPr>
        <p:txBody>
          <a:bodyPr wrap="square">
            <a:spAutoFit/>
          </a:bodyPr>
          <a:lstStyle/>
          <a:p>
            <a:pPr algn="ctr">
              <a:defRPr sz="1000" b="1">
                <a:solidFill>
                  <a:srgbClr val="FFFFFF"/>
                </a:solidFill>
                <a:latin typeface="Arial"/>
              </a:defRPr>
            </a:pPr>
            <a:r>
              <a:rPr lang="en-US"/>
              <a:t>Delegate</a:t>
            </a:r>
            <a:endParaRPr/>
          </a:p>
        </p:txBody>
      </p:sp>
      <p:sp>
        <p:nvSpPr>
          <p:cNvPr id="20" name="Rectangle 19"/>
          <p:cNvSpPr/>
          <p:nvPr/>
        </p:nvSpPr>
        <p:spPr>
          <a:xfrm>
            <a:off x="7589520" y="3165653"/>
            <a:ext cx="1371600" cy="25146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046720" y="2845613"/>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6</a:t>
            </a:r>
          </a:p>
        </p:txBody>
      </p:sp>
      <p:sp>
        <p:nvSpPr>
          <p:cNvPr id="22" name="TextBox 21"/>
          <p:cNvSpPr txBox="1"/>
          <p:nvPr/>
        </p:nvSpPr>
        <p:spPr>
          <a:xfrm>
            <a:off x="7589520" y="3211373"/>
            <a:ext cx="1371600" cy="246221"/>
          </a:xfrm>
          <a:prstGeom prst="rect">
            <a:avLst/>
          </a:prstGeom>
          <a:noFill/>
        </p:spPr>
        <p:txBody>
          <a:bodyPr wrap="square">
            <a:spAutoFit/>
          </a:bodyPr>
          <a:lstStyle/>
          <a:p>
            <a:pPr algn="ctr">
              <a:defRPr sz="1000" b="1">
                <a:solidFill>
                  <a:srgbClr val="FFFFFF"/>
                </a:solidFill>
                <a:latin typeface="Arial"/>
              </a:defRPr>
            </a:pPr>
            <a:r>
              <a:rPr lang="en-US"/>
              <a:t>Coordinate</a:t>
            </a:r>
            <a:endParaRPr/>
          </a:p>
        </p:txBody>
      </p:sp>
      <p:sp>
        <p:nvSpPr>
          <p:cNvPr id="24" name="Rectangle 23"/>
          <p:cNvSpPr/>
          <p:nvPr/>
        </p:nvSpPr>
        <p:spPr>
          <a:xfrm>
            <a:off x="9034272" y="2754173"/>
            <a:ext cx="1371600" cy="292608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491472" y="243413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7</a:t>
            </a:r>
          </a:p>
        </p:txBody>
      </p:sp>
      <p:sp>
        <p:nvSpPr>
          <p:cNvPr id="26" name="TextBox 25"/>
          <p:cNvSpPr txBox="1"/>
          <p:nvPr/>
        </p:nvSpPr>
        <p:spPr>
          <a:xfrm>
            <a:off x="9034272" y="2799893"/>
            <a:ext cx="1371600" cy="246221"/>
          </a:xfrm>
          <a:prstGeom prst="rect">
            <a:avLst/>
          </a:prstGeom>
          <a:noFill/>
        </p:spPr>
        <p:txBody>
          <a:bodyPr wrap="square">
            <a:spAutoFit/>
          </a:bodyPr>
          <a:lstStyle/>
          <a:p>
            <a:pPr algn="ctr">
              <a:defRPr sz="1000" b="1">
                <a:solidFill>
                  <a:srgbClr val="FFFFFF"/>
                </a:solidFill>
                <a:latin typeface="Arial"/>
              </a:defRPr>
            </a:pPr>
            <a:r>
              <a:rPr lang="en-US"/>
              <a:t>Supervise</a:t>
            </a:r>
            <a:endParaRPr/>
          </a:p>
        </p:txBody>
      </p:sp>
      <p:sp>
        <p:nvSpPr>
          <p:cNvPr id="28" name="Rectangle 27"/>
          <p:cNvSpPr/>
          <p:nvPr/>
        </p:nvSpPr>
        <p:spPr>
          <a:xfrm>
            <a:off x="10479024" y="2342693"/>
            <a:ext cx="1371600" cy="333756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936224" y="2022653"/>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8</a:t>
            </a:r>
          </a:p>
        </p:txBody>
      </p:sp>
      <p:sp>
        <p:nvSpPr>
          <p:cNvPr id="30" name="TextBox 29"/>
          <p:cNvSpPr txBox="1"/>
          <p:nvPr/>
        </p:nvSpPr>
        <p:spPr>
          <a:xfrm>
            <a:off x="10479024" y="2388413"/>
            <a:ext cx="1371600" cy="246221"/>
          </a:xfrm>
          <a:prstGeom prst="rect">
            <a:avLst/>
          </a:prstGeom>
          <a:noFill/>
        </p:spPr>
        <p:txBody>
          <a:bodyPr wrap="square">
            <a:spAutoFit/>
          </a:bodyPr>
          <a:lstStyle/>
          <a:p>
            <a:pPr algn="ctr">
              <a:defRPr sz="1000" b="1">
                <a:solidFill>
                  <a:srgbClr val="FFFFFF"/>
                </a:solidFill>
                <a:latin typeface="Arial"/>
              </a:defRPr>
            </a:pPr>
            <a:r>
              <a:rPr lang="en-US"/>
              <a:t>Orchestrate</a:t>
            </a:r>
            <a:endParaRPr/>
          </a:p>
        </p:txBody>
      </p:sp>
      <p:sp>
        <p:nvSpPr>
          <p:cNvPr id="32" name="Rectangle 31"/>
          <p:cNvSpPr/>
          <p:nvPr/>
        </p:nvSpPr>
        <p:spPr>
          <a:xfrm>
            <a:off x="365760" y="5863133"/>
            <a:ext cx="2889504" cy="36576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1: </a:t>
            </a:r>
            <a:r>
              <a:rPr lang="en-US"/>
              <a:t>Tools</a:t>
            </a:r>
            <a:endParaRPr/>
          </a:p>
        </p:txBody>
      </p:sp>
      <p:sp>
        <p:nvSpPr>
          <p:cNvPr id="33" name="Rectangle 32"/>
          <p:cNvSpPr/>
          <p:nvPr/>
        </p:nvSpPr>
        <p:spPr>
          <a:xfrm>
            <a:off x="3255264" y="5863133"/>
            <a:ext cx="2889504" cy="3657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2: </a:t>
            </a:r>
            <a:r>
              <a:rPr lang="en-US"/>
              <a:t>Process</a:t>
            </a:r>
            <a:endParaRPr/>
          </a:p>
        </p:txBody>
      </p:sp>
      <p:sp>
        <p:nvSpPr>
          <p:cNvPr id="34" name="Rectangle 33"/>
          <p:cNvSpPr/>
          <p:nvPr/>
        </p:nvSpPr>
        <p:spPr>
          <a:xfrm>
            <a:off x="6144768" y="5863133"/>
            <a:ext cx="5669280" cy="365760"/>
          </a:xfrm>
          <a:prstGeom prst="rect">
            <a:avLst/>
          </a:prstGeom>
          <a:gradFill flip="none" rotWithShape="1">
            <a:gsLst>
              <a:gs pos="0">
                <a:srgbClr val="5BC2A7"/>
              </a:gs>
              <a:gs pos="50000">
                <a:srgbClr val="5BC2A7">
                  <a:tint val="44500"/>
                  <a:satMod val="160000"/>
                </a:srgbClr>
              </a:gs>
              <a:gs pos="100000">
                <a:srgbClr val="F6BB40"/>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3: Agentic Operations</a:t>
            </a:r>
          </a:p>
        </p:txBody>
      </p:sp>
      <p:sp>
        <p:nvSpPr>
          <p:cNvPr id="35" name="TextBox 34"/>
          <p:cNvSpPr txBox="1"/>
          <p:nvPr/>
        </p:nvSpPr>
        <p:spPr>
          <a:xfrm>
            <a:off x="448056" y="6453031"/>
            <a:ext cx="11247120" cy="274320"/>
          </a:xfrm>
          <a:prstGeom prst="rect">
            <a:avLst/>
          </a:prstGeom>
          <a:noFill/>
        </p:spPr>
        <p:txBody>
          <a:bodyPr wrap="square">
            <a:spAutoFit/>
          </a:bodyPr>
          <a:lstStyle/>
          <a:p>
            <a:pPr algn="ctr">
              <a:defRPr sz="1200" b="1">
                <a:solidFill>
                  <a:srgbClr val="333333"/>
                </a:solidFill>
                <a:latin typeface="Arial"/>
              </a:defRPr>
            </a:pPr>
            <a:r>
              <a:t>As trust increases, humans shift from doing to directing</a:t>
            </a:r>
          </a:p>
        </p:txBody>
      </p:sp>
      <p:sp>
        <p:nvSpPr>
          <p:cNvPr id="19" name="Right Arrow 18">
            <a:extLst>
              <a:ext uri="{FF2B5EF4-FFF2-40B4-BE49-F238E27FC236}">
                <a16:creationId xmlns:a16="http://schemas.microsoft.com/office/drawing/2014/main" id="{8F1492AA-30B9-C6E7-F18F-5CAD807B7D9A}"/>
              </a:ext>
            </a:extLst>
          </p:cNvPr>
          <p:cNvSpPr/>
          <p:nvPr/>
        </p:nvSpPr>
        <p:spPr>
          <a:xfrm>
            <a:off x="365759" y="1560991"/>
            <a:ext cx="5681473" cy="8274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Efficiency</a:t>
            </a:r>
          </a:p>
        </p:txBody>
      </p:sp>
      <p:sp>
        <p:nvSpPr>
          <p:cNvPr id="23" name="Right Arrow 22">
            <a:extLst>
              <a:ext uri="{FF2B5EF4-FFF2-40B4-BE49-F238E27FC236}">
                <a16:creationId xmlns:a16="http://schemas.microsoft.com/office/drawing/2014/main" id="{1ED4795D-99F7-C8C9-DEBC-84446724A381}"/>
              </a:ext>
            </a:extLst>
          </p:cNvPr>
          <p:cNvSpPr/>
          <p:nvPr/>
        </p:nvSpPr>
        <p:spPr>
          <a:xfrm>
            <a:off x="6144768" y="942994"/>
            <a:ext cx="5705856" cy="827422"/>
          </a:xfrm>
          <a:prstGeom prst="rightArrow">
            <a:avLst/>
          </a:prstGeom>
          <a:solidFill>
            <a:srgbClr val="F6BB40"/>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Productivity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B4AD-68BB-6920-5E7D-7DF95E821ED6}"/>
              </a:ext>
            </a:extLst>
          </p:cNvPr>
          <p:cNvSpPr>
            <a:spLocks noGrp="1"/>
          </p:cNvSpPr>
          <p:nvPr>
            <p:ph type="title"/>
          </p:nvPr>
        </p:nvSpPr>
        <p:spPr>
          <a:xfrm>
            <a:off x="612648" y="2093976"/>
            <a:ext cx="8229600" cy="4178808"/>
          </a:xfrm>
        </p:spPr>
        <p:txBody>
          <a:bodyPr anchor="b">
            <a:normAutofit/>
          </a:bodyPr>
          <a:lstStyle/>
          <a:p>
            <a:r>
              <a:rPr lang="en-US" dirty="0"/>
              <a:t>Where does AI belong in our Enterprises?</a:t>
            </a:r>
          </a:p>
        </p:txBody>
      </p:sp>
    </p:spTree>
    <p:extLst>
      <p:ext uri="{BB962C8B-B14F-4D97-AF65-F5344CB8AC3E}">
        <p14:creationId xmlns:p14="http://schemas.microsoft.com/office/powerpoint/2010/main" val="512867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B71BF-1B24-492D-4456-4C52982F3A06}"/>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637234DD-742F-4295-9EBC-3A2A2893C0E2}"/>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371EB0BA-498B-3BB9-9124-7C1963EA5289}"/>
              </a:ext>
            </a:extLst>
          </p:cNvPr>
          <p:cNvSpPr/>
          <p:nvPr/>
        </p:nvSpPr>
        <p:spPr>
          <a:xfrm>
            <a:off x="5841635"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4DE148F-613C-D46D-1C29-5FC0CBFAA423}"/>
              </a:ext>
            </a:extLst>
          </p:cNvPr>
          <p:cNvSpPr/>
          <p:nvPr/>
        </p:nvSpPr>
        <p:spPr>
          <a:xfrm>
            <a:off x="644027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A5B190E-4A80-4BB2-8657-2EBA7F0B3CAA}"/>
              </a:ext>
            </a:extLst>
          </p:cNvPr>
          <p:cNvSpPr/>
          <p:nvPr/>
        </p:nvSpPr>
        <p:spPr>
          <a:xfrm>
            <a:off x="704987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85342FC-2EB8-C34C-B363-A13C8E521AF3}"/>
              </a:ext>
            </a:extLst>
          </p:cNvPr>
          <p:cNvSpPr/>
          <p:nvPr/>
        </p:nvSpPr>
        <p:spPr>
          <a:xfrm>
            <a:off x="763754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2B1399-4413-3180-8349-4F416C3C4E5E}"/>
              </a:ext>
            </a:extLst>
          </p:cNvPr>
          <p:cNvSpPr/>
          <p:nvPr/>
        </p:nvSpPr>
        <p:spPr>
          <a:xfrm>
            <a:off x="823617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2C1B681-BC77-046A-9741-AE6BBE428A08}"/>
              </a:ext>
            </a:extLst>
          </p:cNvPr>
          <p:cNvSpPr/>
          <p:nvPr/>
        </p:nvSpPr>
        <p:spPr>
          <a:xfrm>
            <a:off x="882385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C2F703-F0DE-00CD-0710-D373E8294C76}"/>
              </a:ext>
            </a:extLst>
          </p:cNvPr>
          <p:cNvSpPr/>
          <p:nvPr/>
        </p:nvSpPr>
        <p:spPr>
          <a:xfrm>
            <a:off x="9422487"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1226F0-758D-203B-A13B-60E33CF0F8B7}"/>
              </a:ext>
            </a:extLst>
          </p:cNvPr>
          <p:cNvSpPr/>
          <p:nvPr/>
        </p:nvSpPr>
        <p:spPr>
          <a:xfrm>
            <a:off x="1002112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045400A-B7A7-D0AA-8FAC-D55743E81D50}"/>
              </a:ext>
            </a:extLst>
          </p:cNvPr>
          <p:cNvSpPr/>
          <p:nvPr/>
        </p:nvSpPr>
        <p:spPr>
          <a:xfrm>
            <a:off x="1061975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251A946-641A-D0CF-33F7-0D482E878EBD}"/>
              </a:ext>
            </a:extLst>
          </p:cNvPr>
          <p:cNvSpPr/>
          <p:nvPr/>
        </p:nvSpPr>
        <p:spPr>
          <a:xfrm>
            <a:off x="11221684"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4661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22AA-05BD-D062-41B1-4C11A8DDD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F35E7-642F-62DE-C566-394F901D456A}"/>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A8A0C5F1-40B4-A931-5CCB-4EC3DC1AEDCE}"/>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9FD839CF-04FA-59E7-9960-293BB2130828}"/>
              </a:ext>
            </a:extLst>
          </p:cNvPr>
          <p:cNvSpPr/>
          <p:nvPr/>
        </p:nvSpPr>
        <p:spPr>
          <a:xfrm>
            <a:off x="5841635"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2978340-4180-0B01-6B4D-7DD66EFD4728}"/>
              </a:ext>
            </a:extLst>
          </p:cNvPr>
          <p:cNvSpPr/>
          <p:nvPr/>
        </p:nvSpPr>
        <p:spPr>
          <a:xfrm>
            <a:off x="644027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775BC8-5241-A18E-D439-9FF785F90CED}"/>
              </a:ext>
            </a:extLst>
          </p:cNvPr>
          <p:cNvSpPr/>
          <p:nvPr/>
        </p:nvSpPr>
        <p:spPr>
          <a:xfrm>
            <a:off x="7049871" y="2830364"/>
            <a:ext cx="598636"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7E4549-E15E-A925-DB4E-9D9621895930}"/>
              </a:ext>
            </a:extLst>
          </p:cNvPr>
          <p:cNvSpPr/>
          <p:nvPr/>
        </p:nvSpPr>
        <p:spPr>
          <a:xfrm>
            <a:off x="763754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797862-3CDD-E4BD-CAD3-E9FE99E3DEFB}"/>
              </a:ext>
            </a:extLst>
          </p:cNvPr>
          <p:cNvSpPr/>
          <p:nvPr/>
        </p:nvSpPr>
        <p:spPr>
          <a:xfrm>
            <a:off x="823617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C680F5-2B21-DA0B-9CB3-C2417D4B7A58}"/>
              </a:ext>
            </a:extLst>
          </p:cNvPr>
          <p:cNvSpPr/>
          <p:nvPr/>
        </p:nvSpPr>
        <p:spPr>
          <a:xfrm>
            <a:off x="8823851" y="2830364"/>
            <a:ext cx="598636"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4DC990-7124-8E0F-81F6-72D0315FB6B7}"/>
              </a:ext>
            </a:extLst>
          </p:cNvPr>
          <p:cNvSpPr/>
          <p:nvPr/>
        </p:nvSpPr>
        <p:spPr>
          <a:xfrm>
            <a:off x="9422487"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50FC80E-2975-0BE4-5A84-84B73A49F041}"/>
              </a:ext>
            </a:extLst>
          </p:cNvPr>
          <p:cNvSpPr/>
          <p:nvPr/>
        </p:nvSpPr>
        <p:spPr>
          <a:xfrm>
            <a:off x="10021123"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9F76AF-2478-0559-5B44-48B87011600E}"/>
              </a:ext>
            </a:extLst>
          </p:cNvPr>
          <p:cNvSpPr/>
          <p:nvPr/>
        </p:nvSpPr>
        <p:spPr>
          <a:xfrm>
            <a:off x="10619759" y="2830364"/>
            <a:ext cx="598636"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5E51730-F298-FE5B-717B-2A4CA2C8D2BF}"/>
              </a:ext>
            </a:extLst>
          </p:cNvPr>
          <p:cNvSpPr/>
          <p:nvPr/>
        </p:nvSpPr>
        <p:spPr>
          <a:xfrm>
            <a:off x="11221684"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908626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2CC73-D778-D542-F0FA-D829FADAC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68B5D-0F48-6174-5499-879D6332C734}"/>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CEF23B39-DC43-2B4C-90AD-A02E09ADDA42}"/>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93B885B2-B354-42DF-BBE2-4AA7DE668B11}"/>
              </a:ext>
            </a:extLst>
          </p:cNvPr>
          <p:cNvSpPr/>
          <p:nvPr/>
        </p:nvSpPr>
        <p:spPr>
          <a:xfrm>
            <a:off x="5841635"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02CCEC-4969-28C6-4B0F-321FE6C768D0}"/>
              </a:ext>
            </a:extLst>
          </p:cNvPr>
          <p:cNvSpPr/>
          <p:nvPr/>
        </p:nvSpPr>
        <p:spPr>
          <a:xfrm>
            <a:off x="644027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F08365-C30A-3862-C076-609B7F11C651}"/>
              </a:ext>
            </a:extLst>
          </p:cNvPr>
          <p:cNvSpPr/>
          <p:nvPr/>
        </p:nvSpPr>
        <p:spPr>
          <a:xfrm>
            <a:off x="7049871"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7AACCC-9C05-6D0C-F8F7-4B8AF3AC75EF}"/>
              </a:ext>
            </a:extLst>
          </p:cNvPr>
          <p:cNvSpPr/>
          <p:nvPr/>
        </p:nvSpPr>
        <p:spPr>
          <a:xfrm>
            <a:off x="720556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CB5274-1B06-D5F7-D87F-E2F5641A0321}"/>
              </a:ext>
            </a:extLst>
          </p:cNvPr>
          <p:cNvSpPr/>
          <p:nvPr/>
        </p:nvSpPr>
        <p:spPr>
          <a:xfrm>
            <a:off x="7804197"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593E93-17A6-CAFC-3902-CD51C8E98816}"/>
              </a:ext>
            </a:extLst>
          </p:cNvPr>
          <p:cNvSpPr/>
          <p:nvPr/>
        </p:nvSpPr>
        <p:spPr>
          <a:xfrm>
            <a:off x="8569486"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68FD9C-1BC0-DA7B-7759-F505077CB949}"/>
              </a:ext>
            </a:extLst>
          </p:cNvPr>
          <p:cNvSpPr/>
          <p:nvPr/>
        </p:nvSpPr>
        <p:spPr>
          <a:xfrm>
            <a:off x="9168122"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0363FF-837F-2936-AD31-47B0D84A7804}"/>
              </a:ext>
            </a:extLst>
          </p:cNvPr>
          <p:cNvSpPr/>
          <p:nvPr/>
        </p:nvSpPr>
        <p:spPr>
          <a:xfrm>
            <a:off x="9924599"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59709DE-5653-2FE0-870E-1C348CBF81C0}"/>
              </a:ext>
            </a:extLst>
          </p:cNvPr>
          <p:cNvSpPr/>
          <p:nvPr/>
        </p:nvSpPr>
        <p:spPr>
          <a:xfrm>
            <a:off x="9768909"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36F2874-359F-E13C-4DA3-2A5DAA474BDC}"/>
              </a:ext>
            </a:extLst>
          </p:cNvPr>
          <p:cNvSpPr/>
          <p:nvPr/>
        </p:nvSpPr>
        <p:spPr>
          <a:xfrm>
            <a:off x="8402833"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B669A9C-00CA-C597-B883-91A33B3D6B4B}"/>
              </a:ext>
            </a:extLst>
          </p:cNvPr>
          <p:cNvSpPr/>
          <p:nvPr/>
        </p:nvSpPr>
        <p:spPr>
          <a:xfrm>
            <a:off x="10523234" y="2833641"/>
            <a:ext cx="1297085" cy="598636"/>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7165BD9-F6D8-2BB0-A370-6439D30907D8}"/>
              </a:ext>
            </a:extLst>
          </p:cNvPr>
          <p:cNvSpPr/>
          <p:nvPr/>
        </p:nvSpPr>
        <p:spPr>
          <a:xfrm>
            <a:off x="5865161" y="3973943"/>
            <a:ext cx="6007287"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Compression</a:t>
            </a:r>
          </a:p>
        </p:txBody>
      </p:sp>
    </p:spTree>
    <p:extLst>
      <p:ext uri="{BB962C8B-B14F-4D97-AF65-F5344CB8AC3E}">
        <p14:creationId xmlns:p14="http://schemas.microsoft.com/office/powerpoint/2010/main" val="5696376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9481-AA14-F06F-F97E-5FD2DE749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172F0-EE68-1DDE-4962-5DEB09B12AE2}"/>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2C72AED9-4AAA-9BAF-568E-CD35AA99C43B}"/>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8D83395D-6310-201C-4A27-6224D1266D47}"/>
              </a:ext>
            </a:extLst>
          </p:cNvPr>
          <p:cNvSpPr/>
          <p:nvPr/>
        </p:nvSpPr>
        <p:spPr>
          <a:xfrm>
            <a:off x="5841635"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74BAD6F-38AD-6D46-7288-CCC3367E3B70}"/>
              </a:ext>
            </a:extLst>
          </p:cNvPr>
          <p:cNvSpPr/>
          <p:nvPr/>
        </p:nvSpPr>
        <p:spPr>
          <a:xfrm>
            <a:off x="644027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3BE81F2-9488-E169-D3F3-BE8C9DB06C7A}"/>
              </a:ext>
            </a:extLst>
          </p:cNvPr>
          <p:cNvSpPr/>
          <p:nvPr/>
        </p:nvSpPr>
        <p:spPr>
          <a:xfrm>
            <a:off x="7049871"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0A44684-C993-BAF8-2849-036EACE629CA}"/>
              </a:ext>
            </a:extLst>
          </p:cNvPr>
          <p:cNvSpPr/>
          <p:nvPr/>
        </p:nvSpPr>
        <p:spPr>
          <a:xfrm>
            <a:off x="7205561"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6348CC-AA80-A12C-EA61-E5181DF2AD2A}"/>
              </a:ext>
            </a:extLst>
          </p:cNvPr>
          <p:cNvSpPr/>
          <p:nvPr/>
        </p:nvSpPr>
        <p:spPr>
          <a:xfrm>
            <a:off x="7804197"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D53173E-0A56-EEF1-0C80-A7F57C2D6F13}"/>
              </a:ext>
            </a:extLst>
          </p:cNvPr>
          <p:cNvSpPr/>
          <p:nvPr/>
        </p:nvSpPr>
        <p:spPr>
          <a:xfrm>
            <a:off x="8569486"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637026B-A012-8FF2-C1B2-74CD6BFD2D3E}"/>
              </a:ext>
            </a:extLst>
          </p:cNvPr>
          <p:cNvSpPr/>
          <p:nvPr/>
        </p:nvSpPr>
        <p:spPr>
          <a:xfrm>
            <a:off x="9168122"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A3FCDE-7A53-853F-F888-6B68FC814194}"/>
              </a:ext>
            </a:extLst>
          </p:cNvPr>
          <p:cNvSpPr/>
          <p:nvPr/>
        </p:nvSpPr>
        <p:spPr>
          <a:xfrm>
            <a:off x="9924599"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5C97247-5944-B372-B946-D681369F10EF}"/>
              </a:ext>
            </a:extLst>
          </p:cNvPr>
          <p:cNvSpPr/>
          <p:nvPr/>
        </p:nvSpPr>
        <p:spPr>
          <a:xfrm>
            <a:off x="9768909"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75A78F-CC44-2D69-616C-76399C317B88}"/>
              </a:ext>
            </a:extLst>
          </p:cNvPr>
          <p:cNvSpPr/>
          <p:nvPr/>
        </p:nvSpPr>
        <p:spPr>
          <a:xfrm>
            <a:off x="8402833"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E94D361-53F0-4E25-6828-C212EFB06C60}"/>
              </a:ext>
            </a:extLst>
          </p:cNvPr>
          <p:cNvSpPr/>
          <p:nvPr/>
        </p:nvSpPr>
        <p:spPr>
          <a:xfrm>
            <a:off x="10523234" y="2833641"/>
            <a:ext cx="1297085" cy="598636"/>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CBA9BC5-E285-9247-C6A7-241785F0FBAC}"/>
              </a:ext>
            </a:extLst>
          </p:cNvPr>
          <p:cNvSpPr/>
          <p:nvPr/>
        </p:nvSpPr>
        <p:spPr>
          <a:xfrm>
            <a:off x="5865161" y="3973943"/>
            <a:ext cx="6007287"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Compression</a:t>
            </a:r>
          </a:p>
        </p:txBody>
      </p:sp>
      <p:sp>
        <p:nvSpPr>
          <p:cNvPr id="12" name="Rectangle 11">
            <a:extLst>
              <a:ext uri="{FF2B5EF4-FFF2-40B4-BE49-F238E27FC236}">
                <a16:creationId xmlns:a16="http://schemas.microsoft.com/office/drawing/2014/main" id="{04575030-ACD0-670A-6731-6B088B12DC5B}"/>
              </a:ext>
            </a:extLst>
          </p:cNvPr>
          <p:cNvSpPr/>
          <p:nvPr/>
        </p:nvSpPr>
        <p:spPr>
          <a:xfrm>
            <a:off x="6956445" y="577650"/>
            <a:ext cx="3560910"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Context</a:t>
            </a:r>
          </a:p>
        </p:txBody>
      </p:sp>
    </p:spTree>
    <p:extLst>
      <p:ext uri="{BB962C8B-B14F-4D97-AF65-F5344CB8AC3E}">
        <p14:creationId xmlns:p14="http://schemas.microsoft.com/office/powerpoint/2010/main" val="263272291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82830-F01E-94BA-E16A-B36FFA469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1B248-D08C-724F-D33E-D7F4C428537C}"/>
              </a:ext>
            </a:extLst>
          </p:cNvPr>
          <p:cNvSpPr>
            <a:spLocks noGrp="1"/>
          </p:cNvSpPr>
          <p:nvPr>
            <p:ph type="title"/>
          </p:nvPr>
        </p:nvSpPr>
        <p:spPr>
          <a:xfrm>
            <a:off x="612648" y="502920"/>
            <a:ext cx="4669536" cy="1453896"/>
          </a:xfrm>
        </p:spPr>
        <p:txBody>
          <a:bodyPr anchor="t">
            <a:normAutofit/>
          </a:bodyPr>
          <a:lstStyle/>
          <a:p>
            <a:r>
              <a:rPr lang="en-US" sz="4400" dirty="0"/>
              <a:t>Where does AI Belong?</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EA9ED319-250E-5821-DF7D-2458738CD738}"/>
              </a:ext>
            </a:extLst>
          </p:cNvPr>
          <p:cNvPicPr>
            <a:picLocks noGrp="1" noChangeAspect="1"/>
          </p:cNvPicPr>
          <p:nvPr>
            <p:ph type="pic" sz="quarter" idx="15"/>
          </p:nvPr>
        </p:nvPicPr>
        <p:blipFill>
          <a:blip r:embed="rId3"/>
          <a:srcRect r="12979" b="-2"/>
          <a:stretch>
            <a:fillRect/>
          </a:stretch>
        </p:blipFill>
        <p:spPr>
          <a:xfrm>
            <a:off x="612648" y="2293938"/>
            <a:ext cx="4669536" cy="4024566"/>
          </a:xfrm>
          <a:prstGeom prst="rect">
            <a:avLst/>
          </a:prstGeom>
          <a:noFill/>
        </p:spPr>
      </p:pic>
      <p:sp>
        <p:nvSpPr>
          <p:cNvPr id="7" name="Rectangle 6">
            <a:extLst>
              <a:ext uri="{FF2B5EF4-FFF2-40B4-BE49-F238E27FC236}">
                <a16:creationId xmlns:a16="http://schemas.microsoft.com/office/drawing/2014/main" id="{EA05639E-AC16-4352-44C4-A046ACCBEC69}"/>
              </a:ext>
            </a:extLst>
          </p:cNvPr>
          <p:cNvSpPr/>
          <p:nvPr/>
        </p:nvSpPr>
        <p:spPr>
          <a:xfrm>
            <a:off x="5841635"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FCF5F1C-544C-1676-343A-4E21CAF49025}"/>
              </a:ext>
            </a:extLst>
          </p:cNvPr>
          <p:cNvSpPr/>
          <p:nvPr/>
        </p:nvSpPr>
        <p:spPr>
          <a:xfrm>
            <a:off x="6609948"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566B7E-05F9-E325-4DE5-94B5163AFCC1}"/>
              </a:ext>
            </a:extLst>
          </p:cNvPr>
          <p:cNvSpPr/>
          <p:nvPr/>
        </p:nvSpPr>
        <p:spPr>
          <a:xfrm>
            <a:off x="6765638" y="2833641"/>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8A58595-8BD7-F6FC-CF2B-53E78423B663}"/>
              </a:ext>
            </a:extLst>
          </p:cNvPr>
          <p:cNvSpPr/>
          <p:nvPr/>
        </p:nvSpPr>
        <p:spPr>
          <a:xfrm>
            <a:off x="7697581"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2180B80-32FB-70AC-DEE8-702FCD3F2EE7}"/>
              </a:ext>
            </a:extLst>
          </p:cNvPr>
          <p:cNvSpPr/>
          <p:nvPr/>
        </p:nvSpPr>
        <p:spPr>
          <a:xfrm>
            <a:off x="8609749" y="2830364"/>
            <a:ext cx="598636" cy="598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15C6174-6D03-1098-2EAE-22E682750AA7}"/>
              </a:ext>
            </a:extLst>
          </p:cNvPr>
          <p:cNvSpPr/>
          <p:nvPr/>
        </p:nvSpPr>
        <p:spPr>
          <a:xfrm>
            <a:off x="8454059"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92BC8D-CA06-7CF4-FE60-551183DF184A}"/>
              </a:ext>
            </a:extLst>
          </p:cNvPr>
          <p:cNvSpPr/>
          <p:nvPr/>
        </p:nvSpPr>
        <p:spPr>
          <a:xfrm>
            <a:off x="7530928"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BE1336-FEEF-F163-4BEB-CF17080EBD21}"/>
              </a:ext>
            </a:extLst>
          </p:cNvPr>
          <p:cNvSpPr/>
          <p:nvPr/>
        </p:nvSpPr>
        <p:spPr>
          <a:xfrm>
            <a:off x="9208386" y="2833641"/>
            <a:ext cx="2611934" cy="598636"/>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07DD57D-CFED-B13A-B8E4-8DB2438E59BF}"/>
              </a:ext>
            </a:extLst>
          </p:cNvPr>
          <p:cNvSpPr/>
          <p:nvPr/>
        </p:nvSpPr>
        <p:spPr>
          <a:xfrm>
            <a:off x="5901451" y="3903790"/>
            <a:ext cx="6007286" cy="2554545"/>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Better</a:t>
            </a:r>
          </a:p>
          <a:p>
            <a:pPr algn="ctr"/>
            <a:r>
              <a:rPr lang="en-US" sz="8000" b="1" dirty="0">
                <a:ln w="22225">
                  <a:solidFill>
                    <a:schemeClr val="accent2"/>
                  </a:solidFill>
                  <a:prstDash val="solid"/>
                </a:ln>
                <a:solidFill>
                  <a:schemeClr val="accent2">
                    <a:lumMod val="40000"/>
                    <a:lumOff val="60000"/>
                  </a:schemeClr>
                </a:solidFill>
              </a:rPr>
              <a:t>Compression</a:t>
            </a:r>
            <a:endParaRPr lang="en-US" sz="8000" b="1" cap="none" spc="0" dirty="0">
              <a:ln w="22225">
                <a:solidFill>
                  <a:schemeClr val="accent2"/>
                </a:solidFill>
                <a:prstDash val="solid"/>
              </a:ln>
              <a:solidFill>
                <a:schemeClr val="accent2">
                  <a:lumMod val="40000"/>
                  <a:lumOff val="60000"/>
                </a:schemeClr>
              </a:solidFill>
              <a:effectLst/>
            </a:endParaRPr>
          </a:p>
        </p:txBody>
      </p:sp>
      <p:sp>
        <p:nvSpPr>
          <p:cNvPr id="12" name="Rectangle 11">
            <a:extLst>
              <a:ext uri="{FF2B5EF4-FFF2-40B4-BE49-F238E27FC236}">
                <a16:creationId xmlns:a16="http://schemas.microsoft.com/office/drawing/2014/main" id="{6DC513F4-E5AE-AED5-8A2A-879D571E154A}"/>
              </a:ext>
            </a:extLst>
          </p:cNvPr>
          <p:cNvSpPr/>
          <p:nvPr/>
        </p:nvSpPr>
        <p:spPr>
          <a:xfrm>
            <a:off x="5544295" y="577650"/>
            <a:ext cx="6385211" cy="1323439"/>
          </a:xfrm>
          <a:prstGeom prst="rect">
            <a:avLst/>
          </a:prstGeom>
          <a:noFill/>
        </p:spPr>
        <p:txBody>
          <a:bodyPr wrap="none" lIns="91440" tIns="45720" rIns="91440" bIns="45720">
            <a:spAutoFit/>
          </a:bodyPr>
          <a:lstStyle/>
          <a:p>
            <a:pPr algn="ctr"/>
            <a:r>
              <a:rPr lang="en-US" sz="8000" b="1" cap="none" spc="0" dirty="0">
                <a:ln w="22225">
                  <a:solidFill>
                    <a:schemeClr val="accent2"/>
                  </a:solidFill>
                  <a:prstDash val="solid"/>
                </a:ln>
                <a:solidFill>
                  <a:schemeClr val="accent2">
                    <a:lumMod val="40000"/>
                    <a:lumOff val="60000"/>
                  </a:schemeClr>
                </a:solidFill>
                <a:effectLst/>
              </a:rPr>
              <a:t>Better Context</a:t>
            </a:r>
          </a:p>
        </p:txBody>
      </p:sp>
      <p:sp>
        <p:nvSpPr>
          <p:cNvPr id="15" name="Rectangle 14">
            <a:extLst>
              <a:ext uri="{FF2B5EF4-FFF2-40B4-BE49-F238E27FC236}">
                <a16:creationId xmlns:a16="http://schemas.microsoft.com/office/drawing/2014/main" id="{29892087-EEDE-7865-BFDE-63391AFF6B0E}"/>
              </a:ext>
            </a:extLst>
          </p:cNvPr>
          <p:cNvSpPr/>
          <p:nvPr/>
        </p:nvSpPr>
        <p:spPr>
          <a:xfrm>
            <a:off x="6440271" y="2833641"/>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AFE27EB-DE1E-EE43-5FA4-178F16780580}"/>
              </a:ext>
            </a:extLst>
          </p:cNvPr>
          <p:cNvSpPr/>
          <p:nvPr/>
        </p:nvSpPr>
        <p:spPr>
          <a:xfrm>
            <a:off x="7364274"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2B69063-A1AD-A03D-1D70-1A02A5AE111F}"/>
              </a:ext>
            </a:extLst>
          </p:cNvPr>
          <p:cNvSpPr/>
          <p:nvPr/>
        </p:nvSpPr>
        <p:spPr>
          <a:xfrm>
            <a:off x="8288277" y="2830364"/>
            <a:ext cx="166653" cy="598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151602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74E95308-5504-4600-EFA5-9B1C9BC30A4C}"/>
              </a:ext>
            </a:extLst>
          </p:cNvPr>
          <p:cNvGraphicFramePr/>
          <p:nvPr>
            <p:extLst>
              <p:ext uri="{D42A27DB-BD31-4B8C-83A1-F6EECF244321}">
                <p14:modId xmlns:p14="http://schemas.microsoft.com/office/powerpoint/2010/main" val="2791779122"/>
              </p:ext>
            </p:extLst>
          </p:nvPr>
        </p:nvGraphicFramePr>
        <p:xfrm>
          <a:off x="407324" y="324196"/>
          <a:ext cx="11367654" cy="6201295"/>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F48EAC70-1974-9537-6EBD-F545895E1582}"/>
              </a:ext>
            </a:extLst>
          </p:cNvPr>
          <p:cNvSpPr/>
          <p:nvPr/>
        </p:nvSpPr>
        <p:spPr>
          <a:xfrm>
            <a:off x="5869709" y="1085273"/>
            <a:ext cx="5905269" cy="4862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9281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45E28-A30F-770F-AF6A-0A3F6EEE4F72}"/>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F436E37E-9CA5-7D46-62C4-EDD11CAD04EA}"/>
              </a:ext>
            </a:extLst>
          </p:cNvPr>
          <p:cNvGraphicFramePr/>
          <p:nvPr/>
        </p:nvGraphicFramePr>
        <p:xfrm>
          <a:off x="407324" y="324196"/>
          <a:ext cx="11367654" cy="62012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34699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4ABE-AD39-5150-9A10-B0953E22D06B}"/>
              </a:ext>
            </a:extLst>
          </p:cNvPr>
          <p:cNvSpPr>
            <a:spLocks noGrp="1"/>
          </p:cNvSpPr>
          <p:nvPr>
            <p:ph type="title"/>
          </p:nvPr>
        </p:nvSpPr>
        <p:spPr>
          <a:xfrm>
            <a:off x="612648" y="2093976"/>
            <a:ext cx="8229600" cy="4178808"/>
          </a:xfrm>
        </p:spPr>
        <p:txBody>
          <a:bodyPr anchor="b">
            <a:normAutofit/>
          </a:bodyPr>
          <a:lstStyle/>
          <a:p>
            <a:r>
              <a:rPr lang="en-US"/>
              <a:t>Challenges in AI Integration</a:t>
            </a:r>
          </a:p>
        </p:txBody>
      </p:sp>
    </p:spTree>
    <p:extLst>
      <p:ext uri="{BB962C8B-B14F-4D97-AF65-F5344CB8AC3E}">
        <p14:creationId xmlns:p14="http://schemas.microsoft.com/office/powerpoint/2010/main" val="6119911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7B52-DB0E-621B-36BB-4E9CE1D0D39E}"/>
              </a:ext>
            </a:extLst>
          </p:cNvPr>
          <p:cNvSpPr>
            <a:spLocks noGrp="1"/>
          </p:cNvSpPr>
          <p:nvPr>
            <p:ph type="title"/>
          </p:nvPr>
        </p:nvSpPr>
        <p:spPr/>
        <p:txBody>
          <a:bodyPr>
            <a:normAutofit/>
          </a:bodyPr>
          <a:lstStyle/>
          <a:p>
            <a:r>
              <a:rPr lang="en-US" sz="5400" dirty="0"/>
              <a:t>How do we integrate with AI?</a:t>
            </a:r>
          </a:p>
        </p:txBody>
      </p:sp>
      <p:sp>
        <p:nvSpPr>
          <p:cNvPr id="3" name="Content Placeholder 2">
            <a:extLst>
              <a:ext uri="{FF2B5EF4-FFF2-40B4-BE49-F238E27FC236}">
                <a16:creationId xmlns:a16="http://schemas.microsoft.com/office/drawing/2014/main" id="{463A2EAD-EB1D-5C79-EB66-BCB5A4552F38}"/>
              </a:ext>
            </a:extLst>
          </p:cNvPr>
          <p:cNvSpPr>
            <a:spLocks noGrp="1"/>
          </p:cNvSpPr>
          <p:nvPr>
            <p:ph sz="quarter" idx="13"/>
          </p:nvPr>
        </p:nvSpPr>
        <p:spPr/>
        <p:txBody>
          <a:bodyPr>
            <a:normAutofit/>
          </a:bodyPr>
          <a:lstStyle/>
          <a:p>
            <a:r>
              <a:rPr lang="en-US" sz="4000" dirty="0"/>
              <a:t>Custom trained models?</a:t>
            </a:r>
          </a:p>
          <a:p>
            <a:r>
              <a:rPr lang="en-US" sz="4000" dirty="0"/>
              <a:t>Retrieval Augmented Graphs?</a:t>
            </a:r>
          </a:p>
          <a:p>
            <a:r>
              <a:rPr lang="en-US" sz="4000" dirty="0"/>
              <a:t>Custom connection to each data source?</a:t>
            </a:r>
          </a:p>
          <a:p>
            <a:r>
              <a:rPr lang="en-US" sz="4000" dirty="0"/>
              <a:t>We need a standardized interface!</a:t>
            </a:r>
          </a:p>
        </p:txBody>
      </p:sp>
    </p:spTree>
    <p:extLst>
      <p:ext uri="{BB962C8B-B14F-4D97-AF65-F5344CB8AC3E}">
        <p14:creationId xmlns:p14="http://schemas.microsoft.com/office/powerpoint/2010/main" val="209777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90AC0-339C-2607-2B51-4EDFE0689002}"/>
              </a:ext>
            </a:extLst>
          </p:cNvPr>
          <p:cNvSpPr>
            <a:spLocks noGrp="1"/>
          </p:cNvSpPr>
          <p:nvPr>
            <p:ph type="title"/>
          </p:nvPr>
        </p:nvSpPr>
        <p:spPr>
          <a:xfrm>
            <a:off x="612648" y="2093976"/>
            <a:ext cx="8229600" cy="4178808"/>
          </a:xfrm>
        </p:spPr>
        <p:txBody>
          <a:bodyPr anchor="b">
            <a:normAutofit/>
          </a:bodyPr>
          <a:lstStyle/>
          <a:p>
            <a:r>
              <a:rPr lang="en-US"/>
              <a:t>Introducing the Model Context Protocol (MCP)</a:t>
            </a:r>
          </a:p>
        </p:txBody>
      </p:sp>
    </p:spTree>
    <p:extLst>
      <p:ext uri="{BB962C8B-B14F-4D97-AF65-F5344CB8AC3E}">
        <p14:creationId xmlns:p14="http://schemas.microsoft.com/office/powerpoint/2010/main" val="37131430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E8214-F416-30F6-F13D-5AC873FABA16}"/>
              </a:ext>
            </a:extLst>
          </p:cNvPr>
          <p:cNvSpPr>
            <a:spLocks noGrp="1"/>
          </p:cNvSpPr>
          <p:nvPr>
            <p:ph type="title"/>
          </p:nvPr>
        </p:nvSpPr>
        <p:spPr>
          <a:xfrm>
            <a:off x="612648" y="502920"/>
            <a:ext cx="4669536" cy="1453896"/>
          </a:xfrm>
        </p:spPr>
        <p:txBody>
          <a:bodyPr anchor="t">
            <a:normAutofit/>
          </a:bodyPr>
          <a:lstStyle/>
          <a:p>
            <a:r>
              <a:rPr lang="en-US" sz="4800" dirty="0"/>
              <a:t>Overview and Architecture</a:t>
            </a:r>
          </a:p>
        </p:txBody>
      </p:sp>
      <p:pic>
        <p:nvPicPr>
          <p:cNvPr id="5" name="Content Placeholder 4" descr="Blockchain, Data, Internet, Security System, Computer Network">
            <a:extLst>
              <a:ext uri="{FF2B5EF4-FFF2-40B4-BE49-F238E27FC236}">
                <a16:creationId xmlns:a16="http://schemas.microsoft.com/office/drawing/2014/main" id="{903976E1-1BC0-421E-9261-1FBE32BF9918}"/>
              </a:ext>
            </a:extLst>
          </p:cNvPr>
          <p:cNvPicPr>
            <a:picLocks noGrp="1" noChangeAspect="1"/>
          </p:cNvPicPr>
          <p:nvPr>
            <p:ph type="pic" sz="quarter" idx="15"/>
          </p:nvPr>
        </p:nvPicPr>
        <p:blipFill>
          <a:blip r:embed="rId3"/>
          <a:srcRect l="6562" r="28174"/>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86D29D08-75C8-A7EB-9CF8-1A07D499802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sz="4400" b="1" dirty="0"/>
              <a:t>Universal AI Connector</a:t>
            </a:r>
          </a:p>
          <a:p>
            <a:pPr marL="0" indent="0">
              <a:spcBef>
                <a:spcPts val="2500"/>
              </a:spcBef>
              <a:buFont typeface="Arial" panose="020B0604020202020204" pitchFamily="34" charset="0"/>
              <a:buNone/>
            </a:pPr>
            <a:r>
              <a:rPr lang="en-US" sz="4400" b="1" dirty="0"/>
              <a:t>Client-Server Architecture</a:t>
            </a:r>
          </a:p>
          <a:p>
            <a:pPr marL="0" indent="0">
              <a:spcBef>
                <a:spcPts val="2500"/>
              </a:spcBef>
              <a:buFont typeface="Arial" panose="020B0604020202020204" pitchFamily="34" charset="0"/>
              <a:buNone/>
            </a:pPr>
            <a:r>
              <a:rPr lang="en-US" sz="4400" b="1" dirty="0"/>
              <a:t>Standardized Tool Interface</a:t>
            </a:r>
          </a:p>
        </p:txBody>
      </p:sp>
    </p:spTree>
    <p:extLst>
      <p:ext uri="{BB962C8B-B14F-4D97-AF65-F5344CB8AC3E}">
        <p14:creationId xmlns:p14="http://schemas.microsoft.com/office/powerpoint/2010/main" val="17735716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BCE0F98F-81A4-9676-ABA5-73D1E335F2F8}"/>
              </a:ext>
            </a:extLst>
          </p:cNvPr>
          <p:cNvGrpSpPr/>
          <p:nvPr/>
        </p:nvGrpSpPr>
        <p:grpSpPr>
          <a:xfrm>
            <a:off x="7748282" y="594793"/>
            <a:ext cx="3581945" cy="2585319"/>
            <a:chOff x="7118947" y="560261"/>
            <a:chExt cx="3581945" cy="2585319"/>
          </a:xfrm>
        </p:grpSpPr>
        <p:sp>
          <p:nvSpPr>
            <p:cNvPr id="9" name="Rectangle 8">
              <a:extLst>
                <a:ext uri="{FF2B5EF4-FFF2-40B4-BE49-F238E27FC236}">
                  <a16:creationId xmlns:a16="http://schemas.microsoft.com/office/drawing/2014/main" id="{4C5D7E8D-EB66-B353-DE32-728A300D650D}"/>
                </a:ext>
              </a:extLst>
            </p:cNvPr>
            <p:cNvSpPr/>
            <p:nvPr/>
          </p:nvSpPr>
          <p:spPr>
            <a:xfrm>
              <a:off x="7799810" y="1593073"/>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Gemini</a:t>
              </a:r>
            </a:p>
          </p:txBody>
        </p:sp>
        <p:sp>
          <p:nvSpPr>
            <p:cNvPr id="8" name="Rectangle 7">
              <a:extLst>
                <a:ext uri="{FF2B5EF4-FFF2-40B4-BE49-F238E27FC236}">
                  <a16:creationId xmlns:a16="http://schemas.microsoft.com/office/drawing/2014/main" id="{2CF89677-E65D-4DE4-1892-4419F6820238}"/>
                </a:ext>
              </a:extLst>
            </p:cNvPr>
            <p:cNvSpPr/>
            <p:nvPr/>
          </p:nvSpPr>
          <p:spPr>
            <a:xfrm>
              <a:off x="7581632" y="1248248"/>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GPT5</a:t>
              </a:r>
            </a:p>
          </p:txBody>
        </p:sp>
        <p:sp>
          <p:nvSpPr>
            <p:cNvPr id="7" name="Rectangle 6">
              <a:extLst>
                <a:ext uri="{FF2B5EF4-FFF2-40B4-BE49-F238E27FC236}">
                  <a16:creationId xmlns:a16="http://schemas.microsoft.com/office/drawing/2014/main" id="{BC53E150-BE25-B827-C3AE-8179E2C508D4}"/>
                </a:ext>
              </a:extLst>
            </p:cNvPr>
            <p:cNvSpPr/>
            <p:nvPr/>
          </p:nvSpPr>
          <p:spPr>
            <a:xfrm>
              <a:off x="7356866" y="910011"/>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Claude Sonnet</a:t>
              </a:r>
            </a:p>
          </p:txBody>
        </p:sp>
        <p:sp>
          <p:nvSpPr>
            <p:cNvPr id="6" name="Rectangle 5">
              <a:extLst>
                <a:ext uri="{FF2B5EF4-FFF2-40B4-BE49-F238E27FC236}">
                  <a16:creationId xmlns:a16="http://schemas.microsoft.com/office/drawing/2014/main" id="{EBDF09EB-A649-CB6B-3D53-4D1EA88A3D01}"/>
                </a:ext>
              </a:extLst>
            </p:cNvPr>
            <p:cNvSpPr/>
            <p:nvPr/>
          </p:nvSpPr>
          <p:spPr>
            <a:xfrm>
              <a:off x="7118947" y="560261"/>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LLMs</a:t>
              </a:r>
            </a:p>
          </p:txBody>
        </p:sp>
      </p:grpSp>
      <p:grpSp>
        <p:nvGrpSpPr>
          <p:cNvPr id="13" name="Group 12">
            <a:extLst>
              <a:ext uri="{FF2B5EF4-FFF2-40B4-BE49-F238E27FC236}">
                <a16:creationId xmlns:a16="http://schemas.microsoft.com/office/drawing/2014/main" id="{30CF5653-2D43-D827-6CF9-79AA6D51B6E5}"/>
              </a:ext>
            </a:extLst>
          </p:cNvPr>
          <p:cNvGrpSpPr/>
          <p:nvPr/>
        </p:nvGrpSpPr>
        <p:grpSpPr>
          <a:xfrm>
            <a:off x="394706" y="560260"/>
            <a:ext cx="3706941" cy="2619852"/>
            <a:chOff x="861773" y="560260"/>
            <a:chExt cx="3706941" cy="2619852"/>
          </a:xfrm>
        </p:grpSpPr>
        <p:sp>
          <p:nvSpPr>
            <p:cNvPr id="12" name="Rectangle 11">
              <a:extLst>
                <a:ext uri="{FF2B5EF4-FFF2-40B4-BE49-F238E27FC236}">
                  <a16:creationId xmlns:a16="http://schemas.microsoft.com/office/drawing/2014/main" id="{F640BD2E-FDBF-D6F1-9B20-91FE303A6EB8}"/>
                </a:ext>
              </a:extLst>
            </p:cNvPr>
            <p:cNvSpPr/>
            <p:nvPr/>
          </p:nvSpPr>
          <p:spPr>
            <a:xfrm>
              <a:off x="1667632" y="162760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JetBrains Rider</a:t>
              </a:r>
            </a:p>
          </p:txBody>
        </p:sp>
        <p:sp>
          <p:nvSpPr>
            <p:cNvPr id="11" name="Rectangle 10">
              <a:extLst>
                <a:ext uri="{FF2B5EF4-FFF2-40B4-BE49-F238E27FC236}">
                  <a16:creationId xmlns:a16="http://schemas.microsoft.com/office/drawing/2014/main" id="{775A0537-6AD1-4425-58C4-3792B1DFC7A3}"/>
                </a:ext>
              </a:extLst>
            </p:cNvPr>
            <p:cNvSpPr/>
            <p:nvPr/>
          </p:nvSpPr>
          <p:spPr>
            <a:xfrm>
              <a:off x="1420940" y="122522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IntelliJ</a:t>
              </a:r>
            </a:p>
          </p:txBody>
        </p:sp>
        <p:sp>
          <p:nvSpPr>
            <p:cNvPr id="10" name="Rectangle 9">
              <a:extLst>
                <a:ext uri="{FF2B5EF4-FFF2-40B4-BE49-F238E27FC236}">
                  <a16:creationId xmlns:a16="http://schemas.microsoft.com/office/drawing/2014/main" id="{8A6BAE01-C2C5-CD2A-A9E6-D4F8F48F5E73}"/>
                </a:ext>
              </a:extLst>
            </p:cNvPr>
            <p:cNvSpPr/>
            <p:nvPr/>
          </p:nvSpPr>
          <p:spPr>
            <a:xfrm>
              <a:off x="1150121" y="908369"/>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Visual Studio 2022</a:t>
              </a:r>
            </a:p>
          </p:txBody>
        </p:sp>
        <p:sp>
          <p:nvSpPr>
            <p:cNvPr id="5" name="Rectangle 4">
              <a:extLst>
                <a:ext uri="{FF2B5EF4-FFF2-40B4-BE49-F238E27FC236}">
                  <a16:creationId xmlns:a16="http://schemas.microsoft.com/office/drawing/2014/main" id="{0C03CC70-C8CA-0F41-F9A6-0477CE9CE4C4}"/>
                </a:ext>
              </a:extLst>
            </p:cNvPr>
            <p:cNvSpPr/>
            <p:nvPr/>
          </p:nvSpPr>
          <p:spPr>
            <a:xfrm>
              <a:off x="861773" y="560260"/>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Visual Studio Code</a:t>
              </a:r>
            </a:p>
          </p:txBody>
        </p:sp>
      </p:grpSp>
      <p:grpSp>
        <p:nvGrpSpPr>
          <p:cNvPr id="18" name="Group 17">
            <a:extLst>
              <a:ext uri="{FF2B5EF4-FFF2-40B4-BE49-F238E27FC236}">
                <a16:creationId xmlns:a16="http://schemas.microsoft.com/office/drawing/2014/main" id="{303719EC-F12F-61EA-4B32-9608ACCE33B5}"/>
              </a:ext>
            </a:extLst>
          </p:cNvPr>
          <p:cNvGrpSpPr/>
          <p:nvPr/>
        </p:nvGrpSpPr>
        <p:grpSpPr>
          <a:xfrm>
            <a:off x="-1163281" y="-1027337"/>
            <a:ext cx="6088337" cy="5194226"/>
            <a:chOff x="2974536" y="755405"/>
            <a:chExt cx="6088337" cy="5194226"/>
          </a:xfrm>
        </p:grpSpPr>
        <p:pic>
          <p:nvPicPr>
            <p:cNvPr id="16" name="Picture 15" descr="A red circle with black background&#10;&#10;AI-generated content may be incorrect.">
              <a:extLst>
                <a:ext uri="{FF2B5EF4-FFF2-40B4-BE49-F238E27FC236}">
                  <a16:creationId xmlns:a16="http://schemas.microsoft.com/office/drawing/2014/main" id="{09D38318-9989-0EC8-CFC0-F47D75D96F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4536" y="755405"/>
              <a:ext cx="6088337" cy="5194226"/>
            </a:xfrm>
            <a:prstGeom prst="rect">
              <a:avLst/>
            </a:prstGeom>
          </p:spPr>
        </p:pic>
        <p:sp>
          <p:nvSpPr>
            <p:cNvPr id="17" name="TextBox 16">
              <a:extLst>
                <a:ext uri="{FF2B5EF4-FFF2-40B4-BE49-F238E27FC236}">
                  <a16:creationId xmlns:a16="http://schemas.microsoft.com/office/drawing/2014/main" id="{CD893E87-D26F-A53E-4AF2-2DFBE370C1FE}"/>
                </a:ext>
              </a:extLst>
            </p:cNvPr>
            <p:cNvSpPr txBox="1"/>
            <p:nvPr/>
          </p:nvSpPr>
          <p:spPr>
            <a:xfrm>
              <a:off x="4905298" y="4129719"/>
              <a:ext cx="2361652" cy="523220"/>
            </a:xfrm>
            <a:prstGeom prst="rect">
              <a:avLst/>
            </a:prstGeom>
            <a:noFill/>
          </p:spPr>
          <p:txBody>
            <a:bodyPr wrap="square" rtlCol="0">
              <a:spAutoFit/>
            </a:bodyPr>
            <a:lstStyle/>
            <a:p>
              <a:pPr algn="ctr"/>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MCP Client</a:t>
              </a:r>
            </a:p>
          </p:txBody>
        </p:sp>
      </p:grpSp>
      <p:sp>
        <p:nvSpPr>
          <p:cNvPr id="19" name="Arrow: Right 18">
            <a:extLst>
              <a:ext uri="{FF2B5EF4-FFF2-40B4-BE49-F238E27FC236}">
                <a16:creationId xmlns:a16="http://schemas.microsoft.com/office/drawing/2014/main" id="{298E6414-6D2D-9F3D-4473-27809BC7F0AF}"/>
              </a:ext>
            </a:extLst>
          </p:cNvPr>
          <p:cNvSpPr/>
          <p:nvPr/>
        </p:nvSpPr>
        <p:spPr>
          <a:xfrm>
            <a:off x="4545699" y="1219715"/>
            <a:ext cx="2901077" cy="138887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rPr>
              <a:t>Uses</a:t>
            </a:r>
          </a:p>
        </p:txBody>
      </p:sp>
    </p:spTree>
    <p:extLst>
      <p:ext uri="{BB962C8B-B14F-4D97-AF65-F5344CB8AC3E}">
        <p14:creationId xmlns:p14="http://schemas.microsoft.com/office/powerpoint/2010/main" val="1014892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4B36C-3B2D-9DE4-661B-815A9F7A2F4C}"/>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C1E40B95-395A-76D4-53C0-DA5D373FF9CB}"/>
              </a:ext>
            </a:extLst>
          </p:cNvPr>
          <p:cNvGrpSpPr/>
          <p:nvPr/>
        </p:nvGrpSpPr>
        <p:grpSpPr>
          <a:xfrm>
            <a:off x="7748282" y="594793"/>
            <a:ext cx="3581945" cy="2585319"/>
            <a:chOff x="7118947" y="560261"/>
            <a:chExt cx="3581945" cy="2585319"/>
          </a:xfrm>
        </p:grpSpPr>
        <p:sp>
          <p:nvSpPr>
            <p:cNvPr id="9" name="Rectangle 8">
              <a:extLst>
                <a:ext uri="{FF2B5EF4-FFF2-40B4-BE49-F238E27FC236}">
                  <a16:creationId xmlns:a16="http://schemas.microsoft.com/office/drawing/2014/main" id="{5CC5CD8A-F283-6F75-ECB4-BB68BF872B5C}"/>
                </a:ext>
              </a:extLst>
            </p:cNvPr>
            <p:cNvSpPr/>
            <p:nvPr/>
          </p:nvSpPr>
          <p:spPr>
            <a:xfrm>
              <a:off x="7799810" y="1593073"/>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Gemini</a:t>
              </a:r>
            </a:p>
          </p:txBody>
        </p:sp>
        <p:sp>
          <p:nvSpPr>
            <p:cNvPr id="8" name="Rectangle 7">
              <a:extLst>
                <a:ext uri="{FF2B5EF4-FFF2-40B4-BE49-F238E27FC236}">
                  <a16:creationId xmlns:a16="http://schemas.microsoft.com/office/drawing/2014/main" id="{62C299F3-886B-77E5-EE68-37F910D7F9AE}"/>
                </a:ext>
              </a:extLst>
            </p:cNvPr>
            <p:cNvSpPr/>
            <p:nvPr/>
          </p:nvSpPr>
          <p:spPr>
            <a:xfrm>
              <a:off x="7581632" y="1248248"/>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GPT5</a:t>
              </a:r>
            </a:p>
          </p:txBody>
        </p:sp>
        <p:sp>
          <p:nvSpPr>
            <p:cNvPr id="7" name="Rectangle 6">
              <a:extLst>
                <a:ext uri="{FF2B5EF4-FFF2-40B4-BE49-F238E27FC236}">
                  <a16:creationId xmlns:a16="http://schemas.microsoft.com/office/drawing/2014/main" id="{57FB913E-13FC-B74E-6C7C-427557E223FC}"/>
                </a:ext>
              </a:extLst>
            </p:cNvPr>
            <p:cNvSpPr/>
            <p:nvPr/>
          </p:nvSpPr>
          <p:spPr>
            <a:xfrm>
              <a:off x="7356866" y="910011"/>
              <a:ext cx="2901082" cy="1552507"/>
            </a:xfrm>
            <a:prstGeom prst="rect">
              <a:avLst/>
            </a:prstGeom>
            <a:solidFill>
              <a:schemeClr val="accent4">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000" dirty="0">
                  <a:solidFill>
                    <a:schemeClr val="tx1"/>
                  </a:solidFill>
                </a:rPr>
                <a:t>Claude Sonnet</a:t>
              </a:r>
            </a:p>
          </p:txBody>
        </p:sp>
        <p:sp>
          <p:nvSpPr>
            <p:cNvPr id="6" name="Rectangle 5">
              <a:extLst>
                <a:ext uri="{FF2B5EF4-FFF2-40B4-BE49-F238E27FC236}">
                  <a16:creationId xmlns:a16="http://schemas.microsoft.com/office/drawing/2014/main" id="{DEC1DC4F-8672-BA1C-34F5-BF6E364761BE}"/>
                </a:ext>
              </a:extLst>
            </p:cNvPr>
            <p:cNvSpPr/>
            <p:nvPr/>
          </p:nvSpPr>
          <p:spPr>
            <a:xfrm>
              <a:off x="7118947" y="560261"/>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LLMs</a:t>
              </a:r>
            </a:p>
          </p:txBody>
        </p:sp>
      </p:grpSp>
      <p:grpSp>
        <p:nvGrpSpPr>
          <p:cNvPr id="13" name="Group 12">
            <a:extLst>
              <a:ext uri="{FF2B5EF4-FFF2-40B4-BE49-F238E27FC236}">
                <a16:creationId xmlns:a16="http://schemas.microsoft.com/office/drawing/2014/main" id="{09081F79-09AC-8A9D-6488-9A134A399123}"/>
              </a:ext>
            </a:extLst>
          </p:cNvPr>
          <p:cNvGrpSpPr/>
          <p:nvPr/>
        </p:nvGrpSpPr>
        <p:grpSpPr>
          <a:xfrm>
            <a:off x="394706" y="560260"/>
            <a:ext cx="3706941" cy="2619852"/>
            <a:chOff x="861773" y="560260"/>
            <a:chExt cx="3706941" cy="2619852"/>
          </a:xfrm>
        </p:grpSpPr>
        <p:sp>
          <p:nvSpPr>
            <p:cNvPr id="12" name="Rectangle 11">
              <a:extLst>
                <a:ext uri="{FF2B5EF4-FFF2-40B4-BE49-F238E27FC236}">
                  <a16:creationId xmlns:a16="http://schemas.microsoft.com/office/drawing/2014/main" id="{F0DB17CC-87E1-ED7A-A8A7-A090398153BF}"/>
                </a:ext>
              </a:extLst>
            </p:cNvPr>
            <p:cNvSpPr/>
            <p:nvPr/>
          </p:nvSpPr>
          <p:spPr>
            <a:xfrm>
              <a:off x="1667632" y="162760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JetBrains Rider</a:t>
              </a:r>
            </a:p>
          </p:txBody>
        </p:sp>
        <p:sp>
          <p:nvSpPr>
            <p:cNvPr id="11" name="Rectangle 10">
              <a:extLst>
                <a:ext uri="{FF2B5EF4-FFF2-40B4-BE49-F238E27FC236}">
                  <a16:creationId xmlns:a16="http://schemas.microsoft.com/office/drawing/2014/main" id="{2F15AC4F-1AFE-B330-2E54-B07D5E49CFC0}"/>
                </a:ext>
              </a:extLst>
            </p:cNvPr>
            <p:cNvSpPr/>
            <p:nvPr/>
          </p:nvSpPr>
          <p:spPr>
            <a:xfrm>
              <a:off x="1420940" y="1225225"/>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IntelliJ</a:t>
              </a:r>
            </a:p>
          </p:txBody>
        </p:sp>
        <p:sp>
          <p:nvSpPr>
            <p:cNvPr id="10" name="Rectangle 9">
              <a:extLst>
                <a:ext uri="{FF2B5EF4-FFF2-40B4-BE49-F238E27FC236}">
                  <a16:creationId xmlns:a16="http://schemas.microsoft.com/office/drawing/2014/main" id="{69036611-54E6-1B8D-4950-E861FED69704}"/>
                </a:ext>
              </a:extLst>
            </p:cNvPr>
            <p:cNvSpPr/>
            <p:nvPr/>
          </p:nvSpPr>
          <p:spPr>
            <a:xfrm>
              <a:off x="1150121" y="908369"/>
              <a:ext cx="2901082" cy="155250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2000" dirty="0">
                  <a:solidFill>
                    <a:schemeClr val="tx1"/>
                  </a:solidFill>
                </a:rPr>
                <a:t>Visual Studio 2022</a:t>
              </a:r>
            </a:p>
          </p:txBody>
        </p:sp>
        <p:sp>
          <p:nvSpPr>
            <p:cNvPr id="5" name="Rectangle 4">
              <a:extLst>
                <a:ext uri="{FF2B5EF4-FFF2-40B4-BE49-F238E27FC236}">
                  <a16:creationId xmlns:a16="http://schemas.microsoft.com/office/drawing/2014/main" id="{DB8820DE-1AAA-161F-192E-CF6688DD5426}"/>
                </a:ext>
              </a:extLst>
            </p:cNvPr>
            <p:cNvSpPr/>
            <p:nvPr/>
          </p:nvSpPr>
          <p:spPr>
            <a:xfrm>
              <a:off x="861773" y="560260"/>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Visual Studio Code</a:t>
              </a:r>
            </a:p>
          </p:txBody>
        </p:sp>
      </p:grpSp>
      <p:sp>
        <p:nvSpPr>
          <p:cNvPr id="19" name="Arrow: Right 18">
            <a:extLst>
              <a:ext uri="{FF2B5EF4-FFF2-40B4-BE49-F238E27FC236}">
                <a16:creationId xmlns:a16="http://schemas.microsoft.com/office/drawing/2014/main" id="{81FE90D3-47FE-BB9B-A418-B3FCC26B180B}"/>
              </a:ext>
            </a:extLst>
          </p:cNvPr>
          <p:cNvSpPr/>
          <p:nvPr/>
        </p:nvSpPr>
        <p:spPr>
          <a:xfrm rot="19395900">
            <a:off x="4576306" y="2989310"/>
            <a:ext cx="2901077" cy="138887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rPr>
              <a:t>Uses</a:t>
            </a:r>
          </a:p>
        </p:txBody>
      </p:sp>
      <p:grpSp>
        <p:nvGrpSpPr>
          <p:cNvPr id="24" name="Group 23">
            <a:extLst>
              <a:ext uri="{FF2B5EF4-FFF2-40B4-BE49-F238E27FC236}">
                <a16:creationId xmlns:a16="http://schemas.microsoft.com/office/drawing/2014/main" id="{A74BD082-C585-DBFE-783B-17BAE0E13A20}"/>
              </a:ext>
            </a:extLst>
          </p:cNvPr>
          <p:cNvGrpSpPr/>
          <p:nvPr/>
        </p:nvGrpSpPr>
        <p:grpSpPr>
          <a:xfrm>
            <a:off x="394706" y="3747893"/>
            <a:ext cx="3748620" cy="2735850"/>
            <a:chOff x="3927310" y="3391722"/>
            <a:chExt cx="3748620" cy="2735850"/>
          </a:xfrm>
        </p:grpSpPr>
        <p:sp>
          <p:nvSpPr>
            <p:cNvPr id="23" name="Rectangle 22">
              <a:extLst>
                <a:ext uri="{FF2B5EF4-FFF2-40B4-BE49-F238E27FC236}">
                  <a16:creationId xmlns:a16="http://schemas.microsoft.com/office/drawing/2014/main" id="{BFC9D965-71EA-E3C0-438F-DAF6FA835609}"/>
                </a:ext>
              </a:extLst>
            </p:cNvPr>
            <p:cNvSpPr/>
            <p:nvPr/>
          </p:nvSpPr>
          <p:spPr>
            <a:xfrm>
              <a:off x="4774848" y="4575065"/>
              <a:ext cx="2901082" cy="1552507"/>
            </a:xfrm>
            <a:prstGeom prst="rect">
              <a:avLst/>
            </a:prstGeom>
            <a:solidFill>
              <a:schemeClr val="accent2">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400" dirty="0">
                  <a:solidFill>
                    <a:schemeClr val="tx1"/>
                  </a:solidFill>
                </a:rPr>
                <a:t>Copilot CLI</a:t>
              </a:r>
            </a:p>
          </p:txBody>
        </p:sp>
        <p:sp>
          <p:nvSpPr>
            <p:cNvPr id="22" name="Rectangle 21">
              <a:extLst>
                <a:ext uri="{FF2B5EF4-FFF2-40B4-BE49-F238E27FC236}">
                  <a16:creationId xmlns:a16="http://schemas.microsoft.com/office/drawing/2014/main" id="{6EAC2222-FC89-4277-ACBE-6298D4E0C76E}"/>
                </a:ext>
              </a:extLst>
            </p:cNvPr>
            <p:cNvSpPr/>
            <p:nvPr/>
          </p:nvSpPr>
          <p:spPr>
            <a:xfrm>
              <a:off x="4497453" y="4198138"/>
              <a:ext cx="2901082" cy="1552507"/>
            </a:xfrm>
            <a:prstGeom prst="rect">
              <a:avLst/>
            </a:prstGeom>
            <a:solidFill>
              <a:schemeClr val="accent2">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400" dirty="0">
                  <a:solidFill>
                    <a:schemeClr val="tx1"/>
                  </a:solidFill>
                </a:rPr>
                <a:t>Gemini CLI</a:t>
              </a:r>
            </a:p>
          </p:txBody>
        </p:sp>
        <p:sp>
          <p:nvSpPr>
            <p:cNvPr id="21" name="Rectangle 20">
              <a:extLst>
                <a:ext uri="{FF2B5EF4-FFF2-40B4-BE49-F238E27FC236}">
                  <a16:creationId xmlns:a16="http://schemas.microsoft.com/office/drawing/2014/main" id="{3B5F574B-5FC6-14EE-930A-3F5CB03028F7}"/>
                </a:ext>
              </a:extLst>
            </p:cNvPr>
            <p:cNvSpPr/>
            <p:nvPr/>
          </p:nvSpPr>
          <p:spPr>
            <a:xfrm>
              <a:off x="4213487" y="3802332"/>
              <a:ext cx="2901082" cy="1552507"/>
            </a:xfrm>
            <a:prstGeom prst="rect">
              <a:avLst/>
            </a:prstGeom>
            <a:solidFill>
              <a:schemeClr val="accent2">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b"/>
            <a:lstStyle/>
            <a:p>
              <a:pPr algn="r"/>
              <a:r>
                <a:rPr lang="en-US" sz="2400" dirty="0">
                  <a:solidFill>
                    <a:schemeClr val="tx1"/>
                  </a:solidFill>
                </a:rPr>
                <a:t>Cursor CLI</a:t>
              </a:r>
            </a:p>
          </p:txBody>
        </p:sp>
        <p:sp>
          <p:nvSpPr>
            <p:cNvPr id="20" name="Rectangle 19">
              <a:extLst>
                <a:ext uri="{FF2B5EF4-FFF2-40B4-BE49-F238E27FC236}">
                  <a16:creationId xmlns:a16="http://schemas.microsoft.com/office/drawing/2014/main" id="{E5F5C79A-B15F-7B60-BA1C-099A5C57D567}"/>
                </a:ext>
              </a:extLst>
            </p:cNvPr>
            <p:cNvSpPr/>
            <p:nvPr/>
          </p:nvSpPr>
          <p:spPr>
            <a:xfrm>
              <a:off x="3927310" y="3391722"/>
              <a:ext cx="2901082" cy="1552507"/>
            </a:xfrm>
            <a:prstGeom prst="rect">
              <a:avLst/>
            </a:prstGeom>
            <a:solidFill>
              <a:schemeClr val="accent2">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Developer CLI</a:t>
              </a:r>
            </a:p>
          </p:txBody>
        </p:sp>
      </p:grpSp>
      <p:grpSp>
        <p:nvGrpSpPr>
          <p:cNvPr id="18" name="Group 17">
            <a:extLst>
              <a:ext uri="{FF2B5EF4-FFF2-40B4-BE49-F238E27FC236}">
                <a16:creationId xmlns:a16="http://schemas.microsoft.com/office/drawing/2014/main" id="{E9CB6ED3-CBE1-F65B-6165-B8F1960EB1B2}"/>
              </a:ext>
            </a:extLst>
          </p:cNvPr>
          <p:cNvGrpSpPr/>
          <p:nvPr/>
        </p:nvGrpSpPr>
        <p:grpSpPr>
          <a:xfrm>
            <a:off x="-1338717" y="2603835"/>
            <a:ext cx="6088337" cy="5194226"/>
            <a:chOff x="2974536" y="755405"/>
            <a:chExt cx="6088337" cy="5194226"/>
          </a:xfrm>
        </p:grpSpPr>
        <p:pic>
          <p:nvPicPr>
            <p:cNvPr id="16" name="Picture 15" descr="A red circle with black background&#10;&#10;AI-generated content may be incorrect.">
              <a:extLst>
                <a:ext uri="{FF2B5EF4-FFF2-40B4-BE49-F238E27FC236}">
                  <a16:creationId xmlns:a16="http://schemas.microsoft.com/office/drawing/2014/main" id="{F4B796D8-C4AF-92F5-093D-631EE901F8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4536" y="755405"/>
              <a:ext cx="6088337" cy="5194226"/>
            </a:xfrm>
            <a:prstGeom prst="rect">
              <a:avLst/>
            </a:prstGeom>
          </p:spPr>
        </p:pic>
        <p:sp>
          <p:nvSpPr>
            <p:cNvPr id="17" name="TextBox 16">
              <a:extLst>
                <a:ext uri="{FF2B5EF4-FFF2-40B4-BE49-F238E27FC236}">
                  <a16:creationId xmlns:a16="http://schemas.microsoft.com/office/drawing/2014/main" id="{E7F83E4C-4875-A16D-1955-0A5EAF9268DF}"/>
                </a:ext>
              </a:extLst>
            </p:cNvPr>
            <p:cNvSpPr txBox="1"/>
            <p:nvPr/>
          </p:nvSpPr>
          <p:spPr>
            <a:xfrm>
              <a:off x="4905298" y="4129719"/>
              <a:ext cx="2361652" cy="523220"/>
            </a:xfrm>
            <a:prstGeom prst="rect">
              <a:avLst/>
            </a:prstGeom>
            <a:noFill/>
          </p:spPr>
          <p:txBody>
            <a:bodyPr wrap="square" rtlCol="0">
              <a:spAutoFit/>
            </a:bodyPr>
            <a:lstStyle/>
            <a:p>
              <a:pPr algn="ctr"/>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MCP Client</a:t>
              </a:r>
            </a:p>
          </p:txBody>
        </p:sp>
      </p:grpSp>
    </p:spTree>
    <p:extLst>
      <p:ext uri="{BB962C8B-B14F-4D97-AF65-F5344CB8AC3E}">
        <p14:creationId xmlns:p14="http://schemas.microsoft.com/office/powerpoint/2010/main" val="3190948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row: Right 15">
            <a:extLst>
              <a:ext uri="{FF2B5EF4-FFF2-40B4-BE49-F238E27FC236}">
                <a16:creationId xmlns:a16="http://schemas.microsoft.com/office/drawing/2014/main" id="{9135B7AC-00CE-80CE-4486-62315B4AA075}"/>
              </a:ext>
            </a:extLst>
          </p:cNvPr>
          <p:cNvSpPr/>
          <p:nvPr/>
        </p:nvSpPr>
        <p:spPr>
          <a:xfrm>
            <a:off x="4545699" y="1219715"/>
            <a:ext cx="2901077" cy="138887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rPr>
              <a:t>Uses</a:t>
            </a:r>
          </a:p>
        </p:txBody>
      </p:sp>
      <p:sp>
        <p:nvSpPr>
          <p:cNvPr id="17" name="Rectangle 16">
            <a:extLst>
              <a:ext uri="{FF2B5EF4-FFF2-40B4-BE49-F238E27FC236}">
                <a16:creationId xmlns:a16="http://schemas.microsoft.com/office/drawing/2014/main" id="{7C9B0BBF-6787-9B55-9E1F-AE43B6E478B5}"/>
              </a:ext>
            </a:extLst>
          </p:cNvPr>
          <p:cNvSpPr/>
          <p:nvPr/>
        </p:nvSpPr>
        <p:spPr>
          <a:xfrm>
            <a:off x="642203" y="1137897"/>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Agent</a:t>
            </a:r>
          </a:p>
          <a:p>
            <a:pPr algn="ctr"/>
            <a:r>
              <a:rPr lang="en-US" sz="3600" dirty="0"/>
              <a:t>(MCP Client)</a:t>
            </a:r>
          </a:p>
        </p:txBody>
      </p:sp>
      <p:sp>
        <p:nvSpPr>
          <p:cNvPr id="18" name="Rectangle 17">
            <a:extLst>
              <a:ext uri="{FF2B5EF4-FFF2-40B4-BE49-F238E27FC236}">
                <a16:creationId xmlns:a16="http://schemas.microsoft.com/office/drawing/2014/main" id="{CA91109A-A65C-5D8A-DC9C-03D0E09FE763}"/>
              </a:ext>
            </a:extLst>
          </p:cNvPr>
          <p:cNvSpPr/>
          <p:nvPr/>
        </p:nvSpPr>
        <p:spPr>
          <a:xfrm>
            <a:off x="8449190" y="1219715"/>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Model</a:t>
            </a:r>
          </a:p>
        </p:txBody>
      </p:sp>
    </p:spTree>
    <p:extLst>
      <p:ext uri="{BB962C8B-B14F-4D97-AF65-F5344CB8AC3E}">
        <p14:creationId xmlns:p14="http://schemas.microsoft.com/office/powerpoint/2010/main" val="3654210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B02E-CF17-7F99-5F10-E51A89E4C77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0C514F1-F5BE-2162-505F-48FE4542CAFC}"/>
              </a:ext>
            </a:extLst>
          </p:cNvPr>
          <p:cNvSpPr/>
          <p:nvPr/>
        </p:nvSpPr>
        <p:spPr>
          <a:xfrm>
            <a:off x="642203" y="1137897"/>
            <a:ext cx="2901082" cy="15525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Agent</a:t>
            </a:r>
          </a:p>
          <a:p>
            <a:pPr algn="ctr"/>
            <a:r>
              <a:rPr lang="en-US" sz="3600" dirty="0"/>
              <a:t>(MCP Client)</a:t>
            </a:r>
          </a:p>
        </p:txBody>
      </p:sp>
      <p:sp>
        <p:nvSpPr>
          <p:cNvPr id="18" name="Rectangle 17">
            <a:extLst>
              <a:ext uri="{FF2B5EF4-FFF2-40B4-BE49-F238E27FC236}">
                <a16:creationId xmlns:a16="http://schemas.microsoft.com/office/drawing/2014/main" id="{3924B8FC-DF2B-53E6-B4EA-108C8ADE5564}"/>
              </a:ext>
            </a:extLst>
          </p:cNvPr>
          <p:cNvSpPr/>
          <p:nvPr/>
        </p:nvSpPr>
        <p:spPr>
          <a:xfrm>
            <a:off x="8449190" y="1219715"/>
            <a:ext cx="2901082" cy="155250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Model</a:t>
            </a:r>
          </a:p>
        </p:txBody>
      </p:sp>
      <p:sp>
        <p:nvSpPr>
          <p:cNvPr id="2" name="Rectangle 1">
            <a:extLst>
              <a:ext uri="{FF2B5EF4-FFF2-40B4-BE49-F238E27FC236}">
                <a16:creationId xmlns:a16="http://schemas.microsoft.com/office/drawing/2014/main" id="{19C30823-EC2A-FC53-9FB3-0FDBA8A0E934}"/>
              </a:ext>
            </a:extLst>
          </p:cNvPr>
          <p:cNvSpPr/>
          <p:nvPr/>
        </p:nvSpPr>
        <p:spPr>
          <a:xfrm>
            <a:off x="8449190" y="3778816"/>
            <a:ext cx="2901082" cy="1552507"/>
          </a:xfrm>
          <a:prstGeom prst="rect">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MCP Server(s)</a:t>
            </a:r>
          </a:p>
        </p:txBody>
      </p:sp>
      <p:sp>
        <p:nvSpPr>
          <p:cNvPr id="4" name="Rectangle 3">
            <a:extLst>
              <a:ext uri="{FF2B5EF4-FFF2-40B4-BE49-F238E27FC236}">
                <a16:creationId xmlns:a16="http://schemas.microsoft.com/office/drawing/2014/main" id="{85B66E06-BFD9-299D-9BDF-2F904D3D52B2}"/>
              </a:ext>
            </a:extLst>
          </p:cNvPr>
          <p:cNvSpPr/>
          <p:nvPr/>
        </p:nvSpPr>
        <p:spPr>
          <a:xfrm>
            <a:off x="8449190" y="5331323"/>
            <a:ext cx="2901082" cy="667141"/>
          </a:xfrm>
          <a:prstGeom prst="rect">
            <a:avLst/>
          </a:prstGeom>
          <a:solidFill>
            <a:schemeClr val="accent6">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3600" dirty="0"/>
              <a:t>Tools</a:t>
            </a:r>
          </a:p>
        </p:txBody>
      </p:sp>
      <p:graphicFrame>
        <p:nvGraphicFramePr>
          <p:cNvPr id="5" name="Diagram 4">
            <a:extLst>
              <a:ext uri="{FF2B5EF4-FFF2-40B4-BE49-F238E27FC236}">
                <a16:creationId xmlns:a16="http://schemas.microsoft.com/office/drawing/2014/main" id="{C3E3847A-CBC3-118A-169C-D88CF881453D}"/>
              </a:ext>
            </a:extLst>
          </p:cNvPr>
          <p:cNvGraphicFramePr/>
          <p:nvPr>
            <p:extLst>
              <p:ext uri="{D42A27DB-BD31-4B8C-83A1-F6EECF244321}">
                <p14:modId xmlns:p14="http://schemas.microsoft.com/office/powerpoint/2010/main" val="738527319"/>
              </p:ext>
            </p:extLst>
          </p:nvPr>
        </p:nvGraphicFramePr>
        <p:xfrm>
          <a:off x="2560938" y="1357200"/>
          <a:ext cx="6870599" cy="4641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1887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E6A7-85BF-5666-4701-28A4013CE4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9CD526-5EA1-1625-2371-B1DE80C7D52F}"/>
              </a:ext>
            </a:extLst>
          </p:cNvPr>
          <p:cNvSpPr>
            <a:spLocks noGrp="1"/>
          </p:cNvSpPr>
          <p:nvPr>
            <p:ph type="ctrTitle"/>
          </p:nvPr>
        </p:nvSpPr>
        <p:spPr/>
        <p:txBody>
          <a:bodyPr/>
          <a:lstStyle/>
          <a:p>
            <a:r>
              <a:rPr lang="en-US" dirty="0" err="1"/>
              <a:t>Scryfall</a:t>
            </a:r>
            <a:r>
              <a:rPr lang="en-US" dirty="0"/>
              <a:t> MCP Server</a:t>
            </a:r>
          </a:p>
        </p:txBody>
      </p:sp>
      <p:sp>
        <p:nvSpPr>
          <p:cNvPr id="6" name="Subtitle 5">
            <a:extLst>
              <a:ext uri="{FF2B5EF4-FFF2-40B4-BE49-F238E27FC236}">
                <a16:creationId xmlns:a16="http://schemas.microsoft.com/office/drawing/2014/main" id="{0B18BF4F-18CD-9EDC-1D86-86938268BE30}"/>
              </a:ext>
            </a:extLst>
          </p:cNvPr>
          <p:cNvSpPr>
            <a:spLocks noGrp="1"/>
          </p:cNvSpPr>
          <p:nvPr>
            <p:ph type="subTitle" idx="1"/>
          </p:nvPr>
        </p:nvSpPr>
        <p:spPr/>
        <p:txBody>
          <a:bodyPr/>
          <a:lstStyle/>
          <a:p>
            <a:r>
              <a:rPr lang="en-US" dirty="0"/>
              <a:t>Demonstration</a:t>
            </a:r>
          </a:p>
        </p:txBody>
      </p:sp>
    </p:spTree>
    <p:extLst>
      <p:ext uri="{BB962C8B-B14F-4D97-AF65-F5344CB8AC3E}">
        <p14:creationId xmlns:p14="http://schemas.microsoft.com/office/powerpoint/2010/main" val="4275181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229AB-4900-6D0D-7C23-C5AFBFD62778}"/>
              </a:ext>
            </a:extLst>
          </p:cNvPr>
          <p:cNvSpPr>
            <a:spLocks noGrp="1"/>
          </p:cNvSpPr>
          <p:nvPr>
            <p:ph type="title"/>
          </p:nvPr>
        </p:nvSpPr>
        <p:spPr>
          <a:xfrm>
            <a:off x="612648" y="2093976"/>
            <a:ext cx="8229600" cy="4178808"/>
          </a:xfrm>
        </p:spPr>
        <p:txBody>
          <a:bodyPr anchor="b">
            <a:normAutofit/>
          </a:bodyPr>
          <a:lstStyle/>
          <a:p>
            <a:r>
              <a:rPr lang="en-US"/>
              <a:t>Benefits of Standardized AI Integration</a:t>
            </a:r>
          </a:p>
        </p:txBody>
      </p:sp>
    </p:spTree>
    <p:extLst>
      <p:ext uri="{BB962C8B-B14F-4D97-AF65-F5344CB8AC3E}">
        <p14:creationId xmlns:p14="http://schemas.microsoft.com/office/powerpoint/2010/main" val="2241670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D3AFE-3495-46C3-E3C0-41904BD03F26}"/>
              </a:ext>
            </a:extLst>
          </p:cNvPr>
          <p:cNvSpPr>
            <a:spLocks noGrp="1"/>
          </p:cNvSpPr>
          <p:nvPr>
            <p:ph type="title"/>
          </p:nvPr>
        </p:nvSpPr>
        <p:spPr>
          <a:xfrm>
            <a:off x="612648" y="502920"/>
            <a:ext cx="4669536" cy="1453896"/>
          </a:xfrm>
        </p:spPr>
        <p:txBody>
          <a:bodyPr anchor="t">
            <a:normAutofit/>
          </a:bodyPr>
          <a:lstStyle/>
          <a:p>
            <a:r>
              <a:rPr lang="en-US"/>
              <a:t>Creating a Collaborative Ecosystem</a:t>
            </a:r>
          </a:p>
        </p:txBody>
      </p:sp>
      <p:pic>
        <p:nvPicPr>
          <p:cNvPr id="5" name="Content Placeholder 4" descr="Social media icons people communication connection">
            <a:extLst>
              <a:ext uri="{FF2B5EF4-FFF2-40B4-BE49-F238E27FC236}">
                <a16:creationId xmlns:a16="http://schemas.microsoft.com/office/drawing/2014/main" id="{6325C82B-CEAD-4646-8F9B-05955FB81A80}"/>
              </a:ext>
            </a:extLst>
          </p:cNvPr>
          <p:cNvPicPr>
            <a:picLocks noGrp="1" noChangeAspect="1"/>
          </p:cNvPicPr>
          <p:nvPr>
            <p:ph type="pic" sz="quarter" idx="15"/>
          </p:nvPr>
        </p:nvPicPr>
        <p:blipFill>
          <a:blip r:embed="rId3"/>
          <a:srcRect l="7793" r="5186"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7F833F27-3808-6D2D-D058-5125C61FAB3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Efficiency Through Standardization</a:t>
            </a:r>
          </a:p>
          <a:p>
            <a:pPr marL="0" lvl="1" indent="0">
              <a:buFont typeface="Arial" panose="020B0604020202020204" pitchFamily="34" charset="0"/>
              <a:buNone/>
            </a:pPr>
            <a:r>
              <a:t>Standard protocols reduce reliance on bespoke connectors, saving time and improving reliability in AI tool integration.</a:t>
            </a:r>
            <a:endParaRPr lang="en-US"/>
          </a:p>
          <a:p>
            <a:pPr marL="0" indent="0">
              <a:spcBef>
                <a:spcPts val="2500"/>
              </a:spcBef>
              <a:buFont typeface="Arial" panose="020B0604020202020204" pitchFamily="34" charset="0"/>
              <a:buNone/>
            </a:pPr>
            <a:r>
              <a:rPr lang="en-US" b="1"/>
              <a:t>Collaborative Developer Community</a:t>
            </a:r>
          </a:p>
          <a:p>
            <a:pPr marL="0" lvl="1" indent="0">
              <a:buFont typeface="Arial" panose="020B0604020202020204" pitchFamily="34" charset="0"/>
              <a:buNone/>
            </a:pPr>
            <a:r>
              <a:t>Sharing tools and best practices fosters innovation and accelerates progress across the AI community.</a:t>
            </a:r>
            <a:endParaRPr lang="en-US"/>
          </a:p>
          <a:p>
            <a:pPr marL="0" indent="0">
              <a:spcBef>
                <a:spcPts val="2500"/>
              </a:spcBef>
              <a:buFont typeface="Arial" panose="020B0604020202020204" pitchFamily="34" charset="0"/>
              <a:buNone/>
            </a:pPr>
            <a:r>
              <a:rPr lang="en-US" b="1"/>
              <a:t>Enhanced Security and Compliance</a:t>
            </a:r>
          </a:p>
          <a:p>
            <a:pPr marL="0" lvl="1" indent="0">
              <a:buFont typeface="Arial" panose="020B0604020202020204" pitchFamily="34" charset="0"/>
              <a:buNone/>
            </a:pPr>
            <a:r>
              <a:t>Consistent authentication and data access mechanisms improve security and regulatory compliance.</a:t>
            </a:r>
            <a:endParaRPr lang="en-US"/>
          </a:p>
          <a:p>
            <a:pPr marL="0" indent="0">
              <a:spcBef>
                <a:spcPts val="2500"/>
              </a:spcBef>
              <a:buFont typeface="Arial" panose="020B0604020202020204" pitchFamily="34" charset="0"/>
              <a:buNone/>
            </a:pPr>
            <a:r>
              <a:rPr lang="en-US" b="1"/>
              <a:t>Intelligent, Actionable Agents</a:t>
            </a:r>
          </a:p>
          <a:p>
            <a:pPr marL="0" lvl="1" indent="0">
              <a:buFont typeface="Arial" panose="020B0604020202020204" pitchFamily="34" charset="0"/>
              <a:buNone/>
            </a:pPr>
            <a:r>
              <a:t>Standardization enables AI agents to understand context, generate content, and take meaningful actions.</a:t>
            </a:r>
            <a:endParaRPr lang="en-US"/>
          </a:p>
        </p:txBody>
      </p:sp>
    </p:spTree>
    <p:extLst>
      <p:ext uri="{BB962C8B-B14F-4D97-AF65-F5344CB8AC3E}">
        <p14:creationId xmlns:p14="http://schemas.microsoft.com/office/powerpoint/2010/main" val="1060877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8FD0F-5302-A751-1558-1C8B3723DB6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BF88C3-1EC6-1F20-6EAA-5A7F87F83AC2}"/>
              </a:ext>
            </a:extLst>
          </p:cNvPr>
          <p:cNvSpPr>
            <a:spLocks noGrp="1"/>
          </p:cNvSpPr>
          <p:nvPr>
            <p:ph type="ctrTitle"/>
          </p:nvPr>
        </p:nvSpPr>
        <p:spPr/>
        <p:txBody>
          <a:bodyPr/>
          <a:lstStyle/>
          <a:p>
            <a:r>
              <a:rPr lang="en-US" dirty="0"/>
              <a:t>Playwright MCP Server</a:t>
            </a:r>
          </a:p>
        </p:txBody>
      </p:sp>
      <p:sp>
        <p:nvSpPr>
          <p:cNvPr id="6" name="Subtitle 5">
            <a:extLst>
              <a:ext uri="{FF2B5EF4-FFF2-40B4-BE49-F238E27FC236}">
                <a16:creationId xmlns:a16="http://schemas.microsoft.com/office/drawing/2014/main" id="{9DE8CD6B-7D6A-212B-00D2-21E30FD7DB32}"/>
              </a:ext>
            </a:extLst>
          </p:cNvPr>
          <p:cNvSpPr>
            <a:spLocks noGrp="1"/>
          </p:cNvSpPr>
          <p:nvPr>
            <p:ph type="subTitle" idx="1"/>
          </p:nvPr>
        </p:nvSpPr>
        <p:spPr/>
        <p:txBody>
          <a:bodyPr/>
          <a:lstStyle/>
          <a:p>
            <a:r>
              <a:rPr lang="en-US" dirty="0"/>
              <a:t>Demonstration</a:t>
            </a:r>
          </a:p>
        </p:txBody>
      </p:sp>
    </p:spTree>
    <p:extLst>
      <p:ext uri="{BB962C8B-B14F-4D97-AF65-F5344CB8AC3E}">
        <p14:creationId xmlns:p14="http://schemas.microsoft.com/office/powerpoint/2010/main" val="1566337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A27C-E66F-661A-663F-D683E5E4563E}"/>
              </a:ext>
            </a:extLst>
          </p:cNvPr>
          <p:cNvSpPr>
            <a:spLocks noGrp="1"/>
          </p:cNvSpPr>
          <p:nvPr>
            <p:ph type="title"/>
          </p:nvPr>
        </p:nvSpPr>
        <p:spPr>
          <a:xfrm>
            <a:off x="612648" y="2093976"/>
            <a:ext cx="8229600" cy="4178808"/>
          </a:xfrm>
        </p:spPr>
        <p:txBody>
          <a:bodyPr anchor="b">
            <a:normAutofit/>
          </a:bodyPr>
          <a:lstStyle/>
          <a:p>
            <a:r>
              <a:rPr lang="en-US"/>
              <a:t>Conclusion and Call to Action</a:t>
            </a:r>
          </a:p>
        </p:txBody>
      </p:sp>
    </p:spTree>
    <p:extLst>
      <p:ext uri="{BB962C8B-B14F-4D97-AF65-F5344CB8AC3E}">
        <p14:creationId xmlns:p14="http://schemas.microsoft.com/office/powerpoint/2010/main" val="27055677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A80E884-D581-54F7-F08F-DE54A61BBE63}"/>
              </a:ext>
            </a:extLst>
          </p:cNvPr>
          <p:cNvSpPr>
            <a:spLocks noGrp="1"/>
          </p:cNvSpPr>
          <p:nvPr>
            <p:ph type="ctrTitle"/>
          </p:nvPr>
        </p:nvSpPr>
        <p:spPr/>
        <p:txBody>
          <a:bodyPr/>
          <a:lstStyle/>
          <a:p>
            <a:r>
              <a:rPr lang="en-US" dirty="0"/>
              <a:t>Stop putting AI in a box.</a:t>
            </a:r>
          </a:p>
        </p:txBody>
      </p:sp>
      <p:sp>
        <p:nvSpPr>
          <p:cNvPr id="14" name="Subtitle 13">
            <a:extLst>
              <a:ext uri="{FF2B5EF4-FFF2-40B4-BE49-F238E27FC236}">
                <a16:creationId xmlns:a16="http://schemas.microsoft.com/office/drawing/2014/main" id="{30BE3632-5743-9FCF-CFE6-79BD18E1C79A}"/>
              </a:ext>
            </a:extLst>
          </p:cNvPr>
          <p:cNvSpPr>
            <a:spLocks noGrp="1"/>
          </p:cNvSpPr>
          <p:nvPr>
            <p:ph type="subTitle" idx="1"/>
          </p:nvPr>
        </p:nvSpPr>
        <p:spPr/>
        <p:txBody>
          <a:bodyPr/>
          <a:lstStyle/>
          <a:p>
            <a:endParaRPr lang="en-US"/>
          </a:p>
        </p:txBody>
      </p:sp>
      <p:pic>
        <p:nvPicPr>
          <p:cNvPr id="17" name="Picture Placeholder 16" descr="A screenshot of a video game&#10;&#10;AI-generated content may be incorrect.">
            <a:extLst>
              <a:ext uri="{FF2B5EF4-FFF2-40B4-BE49-F238E27FC236}">
                <a16:creationId xmlns:a16="http://schemas.microsoft.com/office/drawing/2014/main" id="{262E70EC-87F6-33BF-8241-4D7B5541535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4574" b="4574"/>
          <a:stretch>
            <a:fillRect/>
          </a:stretch>
        </p:blipFill>
        <p:spPr/>
      </p:pic>
    </p:spTree>
    <p:extLst>
      <p:ext uri="{BB962C8B-B14F-4D97-AF65-F5344CB8AC3E}">
        <p14:creationId xmlns:p14="http://schemas.microsoft.com/office/powerpoint/2010/main" val="358511382"/>
      </p:ext>
    </p:extLst>
  </p:cSld>
  <p:clrMapOvr>
    <a:masterClrMapping/>
  </p:clrMapOvr>
  <p:transition>
    <p:fade/>
  </p:transition>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1417</TotalTime>
  <Words>2070</Words>
  <Application>Microsoft Macintosh PowerPoint</Application>
  <PresentationFormat>Widescreen</PresentationFormat>
  <Paragraphs>149</Paragraphs>
  <Slides>25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Light</vt:lpstr>
      <vt:lpstr>Arial</vt:lpstr>
      <vt:lpstr>Calibri</vt:lpstr>
      <vt:lpstr>Chroma</vt:lpstr>
      <vt:lpstr>Tools in your AI's Toolbox: An Introduction to MCP Servers</vt:lpstr>
      <vt:lpstr>Tim Rayburn</vt:lpstr>
      <vt:lpstr>PowerPoint Presentation</vt:lpstr>
      <vt:lpstr>Where does AI belong in our Enterprises?</vt:lpstr>
      <vt:lpstr>Where does AI Belong?</vt:lpstr>
      <vt:lpstr>Where does AI Belong?</vt:lpstr>
      <vt:lpstr>Where does AI Belong?</vt:lpstr>
      <vt:lpstr>Where does AI Belong?</vt:lpstr>
      <vt:lpstr>Where does AI Belong?</vt:lpstr>
      <vt:lpstr>PowerPoint Presentation</vt:lpstr>
      <vt:lpstr>PowerPoint Presentation</vt:lpstr>
      <vt:lpstr>Challenges in AI Integration</vt:lpstr>
      <vt:lpstr>How do we integrate with AI?</vt:lpstr>
      <vt:lpstr>Introducing the Model Context Protocol (MCP)</vt:lpstr>
      <vt:lpstr>Overview and Architecture</vt:lpstr>
      <vt:lpstr>PowerPoint Presentation</vt:lpstr>
      <vt:lpstr>PowerPoint Presentation</vt:lpstr>
      <vt:lpstr>PowerPoint Presentation</vt:lpstr>
      <vt:lpstr>PowerPoint Presentation</vt:lpstr>
      <vt:lpstr>Scryfall MCP Server</vt:lpstr>
      <vt:lpstr>Benefits of Standardized AI Integration</vt:lpstr>
      <vt:lpstr>Creating a Collaborative Ecosystem</vt:lpstr>
      <vt:lpstr>Playwright MCP Server</vt:lpstr>
      <vt:lpstr>Conclusion and Call to Action</vt:lpstr>
      <vt:lpstr>Stop putting AI in a box.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Tim Rayburn</cp:lastModifiedBy>
  <cp:revision>13</cp:revision>
  <dcterms:created xsi:type="dcterms:W3CDTF">2013-07-15T20:26:40Z</dcterms:created>
  <dcterms:modified xsi:type="dcterms:W3CDTF">2026-03-12T16:56:23Z</dcterms:modified>
</cp:coreProperties>
</file>